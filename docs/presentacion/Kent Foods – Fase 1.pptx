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2" d="100"/>
          <a:sy n="72" d="100"/>
        </p:scale>
        <p:origin x="432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963772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 el equipo y el caso: Kent Foods, empresa que vende alimentos por envío. Esta fase cubre el modelo dimensional y el ETL.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dueño no tiene una visión consolidada. La base está normalizada para registrar transacciones; para analizar hay que transformarla en un modelo dimensional.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diseñar se revisó la calidad de los datos.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cuatro primeros (tarjetas claras) miden el </a:t>
            </a:r>
            <a:r>
              <a:rPr lang="en-US" dirty="0" err="1"/>
              <a:t>resultado</a:t>
            </a:r>
            <a:r>
              <a:rPr lang="en-US" dirty="0"/>
              <a:t> comercial; los dos oscuros miden el envío, núcleo del negocio. Valores calculados sobre los datos actuales. No hay KPI de margen porque no existen costos.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el grano fuera la orden, perderíamos el análisis por </a:t>
            </a:r>
            <a:r>
              <a:rPr lang="en-US" dirty="0" err="1"/>
              <a:t>producto</a:t>
            </a:r>
            <a:r>
              <a:rPr lang="en-US" dirty="0"/>
              <a:t> y categoría.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DimTiempo es role-playing: se usa para fecha de orden y fecha de envío. Los montos se calculan en el ETL porque no existen en el origen.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tabla de hechos al centro y cinco dimensiones. DimTiempo se conecta dos veces. PK del hecho: OrdenID + ProductoKey, que es exactamente el grano.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Pregunta probable en la interrogación: ¿por qué no incluyeron territorios? Porque necesitaríamos una tabla puente y las ventas se contarían una vez por cada territorio del </a:t>
            </a:r>
            <a:r>
              <a:rPr lang="en-US" dirty="0" err="1"/>
              <a:t>empleado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Demostración sugerida: mostrar en SSMS las tablas creadas y el diagrama de base de datos con las 7 relaciones. Montos en DECIMAL para evitar errores de redondeo del tipo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También: 91 clientes, 77 </a:t>
            </a:r>
            <a:r>
              <a:rPr lang="en-US" dirty="0" err="1"/>
              <a:t>productos</a:t>
            </a:r>
            <a:r>
              <a:rPr lang="en-US" dirty="0"/>
              <a:t>, 9 empleados, 3 transportistas, 21 órdenes con FechaEnvioKey −1. Ventas por año: 2016 208.083,95 · 2017 617.085,05 · 2018 440.623,76.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Espacio para la parte del integrante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Espacio para la parte del integrante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0138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1127761"/>
            <a:ext cx="1056640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899921"/>
            <a:ext cx="10566400" cy="41452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1127761"/>
            <a:ext cx="1056640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899921"/>
            <a:ext cx="10566400" cy="41452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kern="0" spc="200" dirty="0">
                <a:solidFill>
                  <a:srgbClr val="E8A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INTELIGENCIA DE NEGOCIOS · CERTAMEN 2 · FASE 1</a:t>
            </a:r>
            <a:endParaRPr lang="en-US" sz="14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2603500"/>
            <a:ext cx="10883392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300"/>
              </a:lnSpc>
              <a:buNone/>
            </a:pPr>
            <a:r>
              <a:rPr lang="en-US" sz="6000" b="1" i="0" dirty="0">
                <a:solidFill>
                  <a:srgbClr val="F7F6F2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Kent Foods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12800" y="3606800"/>
            <a:ext cx="10883392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60"/>
              </a:lnSpc>
              <a:buNone/>
            </a:pPr>
            <a:r>
              <a:rPr lang="en-US" sz="2200" dirty="0">
                <a:solidFill>
                  <a:srgbClr val="C9D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dimensional y proceso ETL para apoyar la toma de decisiones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12800" y="5511800"/>
            <a:ext cx="3400079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C9D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Maximiliano Bono · Cristian Salinas</a:t>
            </a:r>
            <a:endParaRPr lang="en-US" sz="1400" dirty="0"/>
          </a:p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C9D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Sección 300 · Profesor: Hernán Saavedra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61876" y="5796280"/>
            <a:ext cx="22173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</a:pPr>
            <a:r>
              <a:rPr lang="en-US" sz="1400" dirty="0">
                <a:solidFill>
                  <a:srgbClr val="C9D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UTFSM · Octubre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150" dirty="0">
                <a:solidFill>
                  <a:srgbClr val="A05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27760"/>
            <a:ext cx="10883392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80"/>
              </a:lnSpc>
              <a:buNone/>
            </a:pPr>
            <a:r>
              <a:rPr lang="en-US" sz="3200" b="1" i="0" dirty="0">
                <a:solidFill>
                  <a:srgbClr val="1B2A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Una base para operar, no para decidir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950720"/>
            <a:ext cx="3244088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Situación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12800" y="2352040"/>
            <a:ext cx="3244088" cy="149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20"/>
              </a:lnSpc>
              <a:buNone/>
            </a:pPr>
            <a:r>
              <a:rPr lang="en-US" sz="1600" dirty="0">
                <a:solidFill>
                  <a:srgbClr val="3E4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Kent Foods vende alimentos por envío y creció rápido. Su base transaccional registra órdenes, </a:t>
            </a:r>
            <a:r>
              <a:rPr lang="en-US" sz="1600" dirty="0" err="1">
                <a:solidFill>
                  <a:srgbClr val="3E4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productos</a:t>
            </a:r>
            <a:r>
              <a:rPr lang="en-US" sz="1600" dirty="0">
                <a:solidFill>
                  <a:srgbClr val="3E4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clientes, empleados y transportistas.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267200" y="1950720"/>
            <a:ext cx="3244088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Problema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267200" y="2352040"/>
            <a:ext cx="3244088" cy="149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20"/>
              </a:lnSpc>
              <a:buNone/>
            </a:pPr>
            <a:r>
              <a:rPr lang="en-US" sz="1600" dirty="0">
                <a:solidFill>
                  <a:srgbClr val="3E4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Saber cuánto se vendió por categoría o cuánto demoran los despachos exige unir 5 a 6 tablas y calcular montos que no están guardados.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721600" y="1950720"/>
            <a:ext cx="3657600" cy="1874520"/>
          </a:xfrm>
          <a:prstGeom prst="roundRect">
            <a:avLst>
              <a:gd name="adj" fmla="val 4065"/>
            </a:avLst>
          </a:prstGeom>
          <a:solidFill>
            <a:srgbClr val="1B2A3A"/>
          </a:solidFill>
          <a:ln/>
        </p:spPr>
      </p:sp>
      <p:sp>
        <p:nvSpPr>
          <p:cNvPr id="9" name="Text 7"/>
          <p:cNvSpPr/>
          <p:nvPr/>
        </p:nvSpPr>
        <p:spPr>
          <a:xfrm>
            <a:off x="7975600" y="2204720"/>
            <a:ext cx="3244088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F7F6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975600" y="2606040"/>
            <a:ext cx="3244088" cy="909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20"/>
              </a:lnSpc>
              <a:buNone/>
            </a:pPr>
            <a:r>
              <a:rPr lang="en-US" sz="1600" dirty="0">
                <a:solidFill>
                  <a:srgbClr val="C9D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solución de BI para seguir ventas, descuentos, vendedores y despachos.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12800" y="6238241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7A8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150" dirty="0">
                <a:solidFill>
                  <a:srgbClr val="A05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ANÁLISIS DE LOS DATOS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27761"/>
            <a:ext cx="10883392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80"/>
              </a:lnSpc>
              <a:buNone/>
            </a:pPr>
            <a:r>
              <a:rPr lang="en-US" sz="3200" b="1" i="0" dirty="0">
                <a:solidFill>
                  <a:srgbClr val="1B2A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Lo que encontramos y cómo cambió el diseño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859280"/>
          <a:ext cx="10556240" cy="2729230"/>
        </p:xfrm>
        <a:graphic>
          <a:graphicData uri="http://schemas.openxmlformats.org/drawingml/2006/table">
            <a:tbl>
              <a:tblPr/>
              <a:tblGrid>
                <a:gridCol w="25334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113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113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6870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3E4A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Hallazgo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6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6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4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3E4A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B7B6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6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6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4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3E4A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Decisión en el modelo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B7B6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6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6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4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8010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3E4A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Período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6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3E4A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830 órdenes, 2.155 líneas (jul-2016 a may-2018)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6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3E4A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DimTiempo 2016–2018; comparar períodos equivalentes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6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870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3E4A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 envío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3E4A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 órdenes sin FechaEnvio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3E4A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Miembro especial −1 “Sin fecha”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870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3E4A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Precio histórico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3E4A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658 líneas con precio distinto al de lista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3E4A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Montos con el precio de DetalleOrden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870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3E4A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País de envío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3E4A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Igual al país del </a:t>
                      </a:r>
                      <a:r>
                        <a:rPr lang="en-US" sz="1300" dirty="0" err="1">
                          <a:solidFill>
                            <a:srgbClr val="3E4A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cliente</a:t>
                      </a:r>
                      <a:r>
                        <a:rPr lang="en-US" sz="1300" dirty="0">
                          <a:solidFill>
                            <a:srgbClr val="3E4A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en el 100 %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3E4A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 dimensión de destino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870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3E4A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Integridad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3E4A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huérfanos, 0 duplicados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3E4A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FK sin filas “desconocido”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870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3E4A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Costos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3E4A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hay costo de </a:t>
                      </a:r>
                      <a:r>
                        <a:rPr lang="en-US" sz="1300" dirty="0" err="1">
                          <a:solidFill>
                            <a:srgbClr val="3E4A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producto</a:t>
                      </a:r>
                      <a:r>
                        <a:rPr lang="en-US" sz="1300" dirty="0">
                          <a:solidFill>
                            <a:srgbClr val="3E4A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ni flete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3E4A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se mide margen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2800" y="6238241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7A8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B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150" dirty="0">
                <a:solidFill>
                  <a:srgbClr val="A05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27761"/>
            <a:ext cx="10883392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80"/>
              </a:lnSpc>
              <a:buNone/>
            </a:pPr>
            <a:r>
              <a:rPr lang="en-US" sz="3200" b="1" i="0" dirty="0">
                <a:solidFill>
                  <a:srgbClr val="1B2A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Seis indicadores: venta y despacho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99920"/>
            <a:ext cx="3420507" cy="1574800"/>
          </a:xfrm>
          <a:prstGeom prst="roundRect">
            <a:avLst>
              <a:gd name="adj" fmla="val 4839"/>
            </a:avLst>
          </a:prstGeom>
          <a:solidFill>
            <a:srgbClr val="F7F6F2"/>
          </a:solidFill>
          <a:ln/>
        </p:spPr>
      </p:sp>
      <p:sp>
        <p:nvSpPr>
          <p:cNvPr id="5" name="Text 3"/>
          <p:cNvSpPr/>
          <p:nvPr/>
        </p:nvSpPr>
        <p:spPr>
          <a:xfrm>
            <a:off x="1016000" y="2103120"/>
            <a:ext cx="3104530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$1,27 M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16000" y="2580641"/>
            <a:ext cx="310453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Ventas netas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16000" y="2844800"/>
            <a:ext cx="3104530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3E4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Crecimiento ene–abr 2018 vs 2017: +120,7 %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85707" y="1899920"/>
            <a:ext cx="3420507" cy="1574800"/>
          </a:xfrm>
          <a:prstGeom prst="roundRect">
            <a:avLst>
              <a:gd name="adj" fmla="val 4839"/>
            </a:avLst>
          </a:prstGeom>
          <a:solidFill>
            <a:srgbClr val="F7F6F2"/>
          </a:solidFill>
          <a:ln/>
        </p:spPr>
      </p:sp>
      <p:sp>
        <p:nvSpPr>
          <p:cNvPr id="9" name="Text 7"/>
          <p:cNvSpPr/>
          <p:nvPr/>
        </p:nvSpPr>
        <p:spPr>
          <a:xfrm>
            <a:off x="4588907" y="2103120"/>
            <a:ext cx="3104530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$1.525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588907" y="2580641"/>
            <a:ext cx="310453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Ticket promedio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88907" y="2844800"/>
            <a:ext cx="310453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3E4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Ventas netas / órdenes distintas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958614" y="1899920"/>
            <a:ext cx="3420507" cy="1574800"/>
          </a:xfrm>
          <a:prstGeom prst="roundRect">
            <a:avLst>
              <a:gd name="adj" fmla="val 4839"/>
            </a:avLst>
          </a:prstGeom>
          <a:solidFill>
            <a:srgbClr val="F7F6F2"/>
          </a:solidFill>
          <a:ln/>
        </p:spPr>
      </p:sp>
      <p:sp>
        <p:nvSpPr>
          <p:cNvPr id="13" name="Text 11"/>
          <p:cNvSpPr/>
          <p:nvPr/>
        </p:nvSpPr>
        <p:spPr>
          <a:xfrm>
            <a:off x="8161814" y="2103120"/>
            <a:ext cx="3104530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6,55 %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8161814" y="2580641"/>
            <a:ext cx="310453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Descuento otorgado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161814" y="2844800"/>
            <a:ext cx="310453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3E4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Monto descuento / monto bruto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800" y="3627120"/>
            <a:ext cx="3420507" cy="1361440"/>
          </a:xfrm>
          <a:prstGeom prst="roundRect">
            <a:avLst>
              <a:gd name="adj" fmla="val 5597"/>
            </a:avLst>
          </a:prstGeom>
          <a:solidFill>
            <a:srgbClr val="F7F6F2"/>
          </a:solidFill>
          <a:ln/>
        </p:spPr>
      </p:sp>
      <p:sp>
        <p:nvSpPr>
          <p:cNvPr id="17" name="Text 15"/>
          <p:cNvSpPr/>
          <p:nvPr/>
        </p:nvSpPr>
        <p:spPr>
          <a:xfrm>
            <a:off x="1016000" y="3830320"/>
            <a:ext cx="3104530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vendedores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016000" y="4307841"/>
            <a:ext cx="310453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Ventas por </a:t>
            </a:r>
            <a:r>
              <a:rPr lang="en-US" sz="1400" b="1" dirty="0" err="1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empleado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16000" y="4572000"/>
            <a:ext cx="310453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3E4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Monto neto y participación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85707" y="3627120"/>
            <a:ext cx="3420507" cy="1361440"/>
          </a:xfrm>
          <a:prstGeom prst="roundRect">
            <a:avLst>
              <a:gd name="adj" fmla="val 5597"/>
            </a:avLst>
          </a:prstGeom>
          <a:solidFill>
            <a:srgbClr val="1B2A3A"/>
          </a:solidFill>
          <a:ln/>
        </p:spPr>
      </p:sp>
      <p:sp>
        <p:nvSpPr>
          <p:cNvPr id="21" name="Text 19"/>
          <p:cNvSpPr/>
          <p:nvPr/>
        </p:nvSpPr>
        <p:spPr>
          <a:xfrm>
            <a:off x="4588907" y="3830320"/>
            <a:ext cx="3104530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E8A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8,5 días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4588907" y="4307841"/>
            <a:ext cx="310453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F7F6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Tiempo de despacho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88907" y="4572000"/>
            <a:ext cx="310453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C9D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Promedio orden → envío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958614" y="3627120"/>
            <a:ext cx="3420507" cy="1361440"/>
          </a:xfrm>
          <a:prstGeom prst="roundRect">
            <a:avLst>
              <a:gd name="adj" fmla="val 5597"/>
            </a:avLst>
          </a:prstGeom>
          <a:solidFill>
            <a:srgbClr val="1B2A3A"/>
          </a:solidFill>
          <a:ln/>
        </p:spPr>
      </p:sp>
      <p:sp>
        <p:nvSpPr>
          <p:cNvPr id="25" name="Text 23"/>
          <p:cNvSpPr/>
          <p:nvPr/>
        </p:nvSpPr>
        <p:spPr>
          <a:xfrm>
            <a:off x="8161814" y="3830320"/>
            <a:ext cx="3104530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E8A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2,5 %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8161814" y="4307841"/>
            <a:ext cx="310453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F7F6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Órdenes pendientes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161814" y="4572000"/>
            <a:ext cx="310453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C9D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de 830 sin enviar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12800" y="6238239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7A8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150" dirty="0">
                <a:solidFill>
                  <a:srgbClr val="A05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KIMBALL · PASOS 1 Y 2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27761"/>
            <a:ext cx="10883392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80"/>
              </a:lnSpc>
              <a:buNone/>
            </a:pPr>
            <a:r>
              <a:rPr lang="en-US" sz="3200" b="1" i="0" dirty="0">
                <a:solidFill>
                  <a:srgbClr val="1B2A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Proceso de negocio y granularidad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63421"/>
            <a:ext cx="5130800" cy="0"/>
          </a:xfrm>
          <a:prstGeom prst="line">
            <a:avLst/>
          </a:prstGeom>
          <a:noFill/>
          <a:ln w="25400">
            <a:solidFill>
              <a:srgbClr val="A052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2800" y="2179321"/>
            <a:ext cx="5284724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A05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1 · Proceso de negocio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12800" y="2519682"/>
            <a:ext cx="5284724" cy="360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Ventas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12800" y="2981961"/>
            <a:ext cx="5284724" cy="1130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75"/>
              </a:lnSpc>
              <a:buNone/>
            </a:pPr>
            <a:r>
              <a:rPr lang="en-US" sz="1500" dirty="0">
                <a:solidFill>
                  <a:srgbClr val="3E4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toma y despacho de órdenes. Es el proceso que genera ingresos y el único con hechos medibles: cantidades, precios, descuentos y fechas. Todos los KPI salen de él, así que basta una tabla de hechos.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48400" y="1963421"/>
            <a:ext cx="5130800" cy="0"/>
          </a:xfrm>
          <a:prstGeom prst="line">
            <a:avLst/>
          </a:prstGeom>
          <a:noFill/>
          <a:ln w="25400">
            <a:solidFill>
              <a:srgbClr val="A052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48400" y="2179321"/>
            <a:ext cx="5284724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A05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2 · Granularidad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248400" y="2519682"/>
            <a:ext cx="5284724" cy="360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fila por </a:t>
            </a:r>
            <a:r>
              <a:rPr lang="en-US" sz="2200" b="1" dirty="0" err="1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producto</a:t>
            </a:r>
            <a:r>
              <a:rPr lang="en-US" sz="22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en una orden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248400" y="2981961"/>
            <a:ext cx="5284724" cy="854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75"/>
              </a:lnSpc>
              <a:buNone/>
            </a:pPr>
            <a:r>
              <a:rPr lang="en-US" sz="1500" dirty="0">
                <a:solidFill>
                  <a:srgbClr val="3E4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Equivale a una línea de DetalleOrden. Es el nivel más fino: desde ahí se agrega a orden, </a:t>
            </a:r>
            <a:r>
              <a:rPr lang="en-US" sz="1500" dirty="0" err="1">
                <a:solidFill>
                  <a:srgbClr val="3E4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</a:t>
            </a:r>
            <a:r>
              <a:rPr lang="en-US" sz="1500" dirty="0">
                <a:solidFill>
                  <a:srgbClr val="3E4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 mes, pero no al revés. Coincide 1 a 1 con el origen: 2.155 filas esperadas.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12800" y="6238239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7A8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150" dirty="0">
                <a:solidFill>
                  <a:srgbClr val="A05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KIMBALL · PASOS 3 Y 4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27761"/>
            <a:ext cx="10883392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80"/>
              </a:lnSpc>
              <a:buNone/>
            </a:pPr>
            <a:r>
              <a:rPr lang="en-US" sz="3200" b="1" i="0" dirty="0">
                <a:solidFill>
                  <a:srgbClr val="1B2A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Dimensiones y medidas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849121"/>
            <a:ext cx="5284724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A05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3 · Dimensiones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174242"/>
          <a:ext cx="5120640" cy="2141220"/>
        </p:xfrm>
        <a:graphic>
          <a:graphicData uri="http://schemas.openxmlformats.org/drawingml/2006/table">
            <a:tbl>
              <a:tblPr/>
              <a:tblGrid>
                <a:gridCol w="21506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699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6870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3E4A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Dimensión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6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6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4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3E4A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Responde 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B7B6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6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6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4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870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3E4A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DimTiempo (×2)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6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3E4A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¿Cuándo se pidió y se envió?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6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870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3E4A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DimCliente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3E4A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¿A quién? ¿Dónde?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870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3E4A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DimProducto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3E4A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¿Qué? (con categoría y proveedor)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870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3E4A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DimEmpleado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3E4A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¿Quién vendió?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870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3E4A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DimTransportista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3E4A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¿Quién despachó?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12800" y="4417061"/>
            <a:ext cx="5284724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3E4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OrdenID queda en el hecho como dimensión degenerada.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248400" y="1849121"/>
            <a:ext cx="5284724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A05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4 · Hecho: FactVentas</a:t>
            </a:r>
            <a:endParaRPr lang="en-US" sz="1200" dirty="0"/>
          </a:p>
        </p:txBody>
      </p:sp>
      <p:graphicFrame>
        <p:nvGraphicFramePr>
          <p:cNvPr id="8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58560" y="2174242"/>
          <a:ext cx="5120640" cy="2372360"/>
        </p:xfrm>
        <a:graphic>
          <a:graphicData uri="http://schemas.openxmlformats.org/drawingml/2006/table">
            <a:tbl>
              <a:tblPr/>
              <a:tblGrid>
                <a:gridCol w="21506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699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6870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3E4A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Medida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6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6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4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3E4A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B7B6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6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6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4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870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3E4A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Cantidad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6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3E4A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Aditiva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6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870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3E4A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MontoBruto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3E4A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Aditiva (cant. × precio)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870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3E4A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MontoDescuento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3E4A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Aditiva (bruto × desc.)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870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3E4A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MontoNeto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3E4A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Aditiva (bruto − desc.)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8010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3E4A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Precio, Descuento, DiasDespacho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3E4A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aditivas: solo promediar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812800" y="6238239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7A8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609600"/>
            <a:ext cx="10883392" cy="4321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1B2A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Modelo estrella implementado en KentFoodsDW</a:t>
            </a:r>
            <a:endParaRPr lang="en-US" sz="2800" dirty="0"/>
          </a:p>
        </p:txBody>
      </p:sp>
      <p:pic>
        <p:nvPicPr>
          <p:cNvPr id="3" name="Image 0" descr="Diagrama estrella: FactVentas al centro relacionada con DimTiempo (dos veces), DimCliente, DimProducto, DimEmpleado y DimTransportista"/>
          <p:cNvPicPr>
            <a:picLocks noChangeAspect="1"/>
          </p:cNvPicPr>
          <p:nvPr/>
        </p:nvPicPr>
        <p:blipFill>
          <a:blip r:embed="rId3"/>
          <a:srcRect l="-63669" r="-63669"/>
          <a:stretch/>
        </p:blipFill>
        <p:spPr>
          <a:xfrm>
            <a:off x="812800" y="1168719"/>
            <a:ext cx="10566400" cy="467328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12800" y="6238239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7A8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150" dirty="0">
                <a:solidFill>
                  <a:srgbClr val="A05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DECISIONES DE DISEÑO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27761"/>
            <a:ext cx="10883392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80"/>
              </a:lnSpc>
              <a:buNone/>
            </a:pPr>
            <a:r>
              <a:rPr lang="en-US" sz="3200" b="1" i="0" dirty="0">
                <a:solidFill>
                  <a:srgbClr val="1B2A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Por qué estrella y qué quedó fuera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899921"/>
            <a:ext cx="5284724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Estrella, no copo de nieve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96620" y="2301239"/>
            <a:ext cx="5193284" cy="1130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0180" indent="-170180" algn="l">
              <a:lnSpc>
                <a:spcPts val="2175"/>
              </a:lnSpc>
              <a:buSzPct val="100000"/>
              <a:buChar char="•"/>
            </a:pPr>
            <a:r>
              <a:rPr lang="en-US" sz="1500" dirty="0">
                <a:solidFill>
                  <a:srgbClr val="3E4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Dimensiones pequeñas: máximo 91 filas</a:t>
            </a:r>
            <a:endParaRPr lang="en-US" sz="1500" dirty="0"/>
          </a:p>
          <a:p>
            <a:pPr marL="170180" indent="-170180" algn="l">
              <a:lnSpc>
                <a:spcPts val="2175"/>
              </a:lnSpc>
              <a:buSzPct val="100000"/>
              <a:buChar char="•"/>
            </a:pPr>
            <a:r>
              <a:rPr lang="en-US" sz="1500" dirty="0">
                <a:solidFill>
                  <a:srgbClr val="3E4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solo JOIN por dimensión</a:t>
            </a:r>
            <a:endParaRPr lang="en-US" sz="1500" dirty="0"/>
          </a:p>
          <a:p>
            <a:pPr marL="170180" indent="-170180" algn="l">
              <a:lnSpc>
                <a:spcPts val="2175"/>
              </a:lnSpc>
              <a:buSzPct val="100000"/>
              <a:buChar char="•"/>
            </a:pPr>
            <a:r>
              <a:rPr lang="en-US" sz="1500" dirty="0">
                <a:solidFill>
                  <a:srgbClr val="3E4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SSAS y Power BI trabajan mejor con dimensiones planas</a:t>
            </a:r>
            <a:endParaRPr lang="en-US" sz="1500" dirty="0"/>
          </a:p>
          <a:p>
            <a:pPr marL="170180" indent="-170180" algn="l">
              <a:lnSpc>
                <a:spcPts val="2175"/>
              </a:lnSpc>
              <a:buSzPct val="100000"/>
              <a:buChar char="•"/>
            </a:pPr>
            <a:r>
              <a:rPr lang="en-US" sz="1500" dirty="0">
                <a:solidFill>
                  <a:srgbClr val="3E4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Separar Categoría y Proveedor no aporta análisis nuevo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248400" y="1899921"/>
            <a:ext cx="5284724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Excluido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332220" y="2301239"/>
            <a:ext cx="5193284" cy="1130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0180" indent="-170180" algn="l">
              <a:lnSpc>
                <a:spcPts val="2175"/>
              </a:lnSpc>
              <a:buSzPct val="100000"/>
              <a:buChar char="•"/>
            </a:pPr>
            <a:r>
              <a:rPr lang="en-US" sz="1500" dirty="0">
                <a:solidFill>
                  <a:srgbClr val="3E4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Territorios y Regiones: muchos a muchos con empleados y la orden no registra territorio; generaría doble conteo</a:t>
            </a:r>
            <a:endParaRPr lang="en-US" sz="1500" dirty="0"/>
          </a:p>
          <a:p>
            <a:pPr marL="170180" indent="-170180" algn="l">
              <a:lnSpc>
                <a:spcPts val="2175"/>
              </a:lnSpc>
              <a:buSzPct val="100000"/>
              <a:buChar char="•"/>
            </a:pPr>
            <a:r>
              <a:rPr lang="en-US" sz="1500" dirty="0">
                <a:solidFill>
                  <a:srgbClr val="3E4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Destino de envío: redundante con el país del </a:t>
            </a:r>
            <a:r>
              <a:rPr lang="en-US" sz="1500" dirty="0" err="1">
                <a:solidFill>
                  <a:srgbClr val="3E4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</a:t>
            </a:r>
            <a:endParaRPr lang="en-US" sz="1500" dirty="0"/>
          </a:p>
          <a:p>
            <a:pPr marL="170180" indent="-170180" algn="l">
              <a:lnSpc>
                <a:spcPts val="2175"/>
              </a:lnSpc>
              <a:buSzPct val="100000"/>
              <a:buChar char="•"/>
            </a:pPr>
            <a:r>
              <a:rPr lang="en-US" sz="1500" dirty="0">
                <a:solidFill>
                  <a:srgbClr val="3E4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Imágenes, direcciones y teléfonos: sin uso analítico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7A8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B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150" dirty="0">
                <a:solidFill>
                  <a:srgbClr val="A05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IMPLEMENTACIÓN EN SQL SERVER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27764"/>
            <a:ext cx="10883392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80"/>
              </a:lnSpc>
              <a:buNone/>
            </a:pPr>
            <a:r>
              <a:rPr lang="en-US" sz="3200" b="1" i="0" dirty="0">
                <a:solidFill>
                  <a:srgbClr val="1B2A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01_crear_modelo_dimensional.sql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99921"/>
            <a:ext cx="5207000" cy="1239520"/>
          </a:xfrm>
          <a:prstGeom prst="roundRect">
            <a:avLst>
              <a:gd name="adj" fmla="val 6148"/>
            </a:avLst>
          </a:prstGeom>
          <a:solidFill>
            <a:srgbClr val="F7F6F2"/>
          </a:solidFill>
          <a:ln/>
        </p:spPr>
      </p:sp>
      <p:sp>
        <p:nvSpPr>
          <p:cNvPr id="5" name="Text 3"/>
          <p:cNvSpPr/>
          <p:nvPr/>
        </p:nvSpPr>
        <p:spPr>
          <a:xfrm>
            <a:off x="1041400" y="2128521"/>
            <a:ext cx="4892294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separada KentFoodsDW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41400" y="2448564"/>
            <a:ext cx="489229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3E4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se mezcla el entorno transaccional con el analítico. Se puede re-ejecutar desde cero.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72200" y="1899921"/>
            <a:ext cx="5207000" cy="1239520"/>
          </a:xfrm>
          <a:prstGeom prst="roundRect">
            <a:avLst>
              <a:gd name="adj" fmla="val 6148"/>
            </a:avLst>
          </a:prstGeom>
          <a:solidFill>
            <a:srgbClr val="F7F6F2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0" y="2128521"/>
            <a:ext cx="4892294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Claves sustitutas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0" y="2448564"/>
            <a:ext cx="489229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3E4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 IDENTITY en cada dimensión; la clave natural se guarda para los Lookup del ETL. SCD tipo 1.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2800" y="3291842"/>
            <a:ext cx="5207000" cy="1239520"/>
          </a:xfrm>
          <a:prstGeom prst="roundRect">
            <a:avLst>
              <a:gd name="adj" fmla="val 6148"/>
            </a:avLst>
          </a:prstGeom>
          <a:solidFill>
            <a:srgbClr val="F7F6F2"/>
          </a:solidFill>
          <a:ln/>
        </p:spPr>
      </p:sp>
      <p:sp>
        <p:nvSpPr>
          <p:cNvPr id="11" name="Text 9"/>
          <p:cNvSpPr/>
          <p:nvPr/>
        </p:nvSpPr>
        <p:spPr>
          <a:xfrm>
            <a:off x="1041400" y="3520442"/>
            <a:ext cx="4892294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PK = granularidad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41400" y="3840479"/>
            <a:ext cx="489229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3E4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(OrdenID, ProductoKey) rechaza líneas duplicadas. 7 FK aseguran la integridad.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72200" y="3291842"/>
            <a:ext cx="5207000" cy="1239520"/>
          </a:xfrm>
          <a:prstGeom prst="roundRect">
            <a:avLst>
              <a:gd name="adj" fmla="val 6148"/>
            </a:avLst>
          </a:prstGeom>
          <a:solidFill>
            <a:srgbClr val="F7F6F2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0" y="3520442"/>
            <a:ext cx="4892294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DimTiempo generada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00800" y="3840479"/>
            <a:ext cx="489229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3E4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Clave AAAAMMDD, 2016–2018 más la fila −1. Nombres en español con CHOOSE.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7A8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150" dirty="0">
                <a:solidFill>
                  <a:srgbClr val="E8A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VALIDACIÓN DE LA CARGA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27764"/>
            <a:ext cx="10883392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80"/>
              </a:lnSpc>
              <a:buNone/>
            </a:pPr>
            <a:r>
              <a:rPr lang="en-US" sz="3200" b="1" i="0" dirty="0">
                <a:solidFill>
                  <a:srgbClr val="F7F6F2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Valores que el ETL debe reproducir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2001521"/>
            <a:ext cx="2848715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600"/>
              </a:lnSpc>
              <a:buNone/>
            </a:pPr>
            <a:r>
              <a:rPr lang="en-US" sz="4000" b="1" dirty="0">
                <a:solidFill>
                  <a:srgbClr val="E8A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2.155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12800" y="2763521"/>
            <a:ext cx="2848715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C9D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filas en FactVentas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883342" y="2001521"/>
            <a:ext cx="2848797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600"/>
              </a:lnSpc>
              <a:buNone/>
            </a:pPr>
            <a:r>
              <a:rPr lang="en-US" sz="4000" b="1" dirty="0">
                <a:solidFill>
                  <a:srgbClr val="E8A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830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3883342" y="2763521"/>
            <a:ext cx="2848797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C9D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órdenes distintas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953965" y="2001521"/>
            <a:ext cx="4557993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600"/>
              </a:lnSpc>
              <a:buNone/>
            </a:pPr>
            <a:r>
              <a:rPr lang="en-US" sz="4000" b="1" dirty="0">
                <a:solidFill>
                  <a:srgbClr val="E8A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1.265.792,76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6953965" y="2763521"/>
            <a:ext cx="4557993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C9D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monto neto total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12800" y="3436621"/>
            <a:ext cx="10883392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75"/>
              </a:lnSpc>
              <a:buNone/>
            </a:pPr>
            <a:r>
              <a:rPr lang="en-US" sz="1500" dirty="0">
                <a:solidFill>
                  <a:srgbClr val="C9D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02_validacion_carga.sql compara origen y DW fila a fila; cada control debe decir OK.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FA0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150" dirty="0">
                <a:solidFill>
                  <a:srgbClr val="A05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PROCESO ETL</a:t>
            </a:r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27764"/>
            <a:ext cx="10883392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80"/>
              </a:lnSpc>
              <a:buNone/>
            </a:pPr>
            <a:r>
              <a:rPr lang="en-US" sz="3200" b="1" i="0" dirty="0">
                <a:solidFill>
                  <a:srgbClr val="1B2A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Arquitectura y dimensiones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899920"/>
            <a:ext cx="10883392" cy="38303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20"/>
              </a:lnSpc>
              <a:buNone/>
            </a:pPr>
            <a:r>
              <a:rPr lang="en-US" b="1" dirty="0">
                <a:latin typeface="+mj-lt"/>
              </a:rPr>
              <a:t>Flujo de control (Orquestación en SSIS)</a:t>
            </a:r>
          </a:p>
          <a:p>
            <a:pPr marL="285750" indent="-285750" algn="l">
              <a:lnSpc>
                <a:spcPts val="2320"/>
              </a:lnSpc>
              <a:buFont typeface="Arial" panose="020B0604020202020204" pitchFamily="34" charset="0"/>
              <a:buChar char="•"/>
            </a:pPr>
            <a:r>
              <a:rPr lang="en-US" sz="1600" b="1" dirty="0">
                <a:latin typeface="+mj-lt"/>
              </a:rPr>
              <a:t>Limpieza: </a:t>
            </a:r>
            <a:r>
              <a:rPr lang="en-US" sz="1600" dirty="0">
                <a:latin typeface="+mj-lt"/>
              </a:rPr>
              <a:t>Tarea SQL inicial con DELETE (En lugar de TRUNCATE) para respetar las Foreign Keys.</a:t>
            </a:r>
          </a:p>
          <a:p>
            <a:pPr marL="285750" indent="-285750" algn="l">
              <a:lnSpc>
                <a:spcPts val="2320"/>
              </a:lnSpc>
              <a:buFont typeface="Arial" panose="020B0604020202020204" pitchFamily="34" charset="0"/>
              <a:buChar char="•"/>
            </a:pPr>
            <a:r>
              <a:rPr lang="en-US" sz="1600" b="1" dirty="0">
                <a:latin typeface="+mj-lt"/>
              </a:rPr>
              <a:t>Carga Paralela: </a:t>
            </a:r>
            <a:r>
              <a:rPr lang="en-US" sz="1600" dirty="0">
                <a:latin typeface="+mj-lt"/>
              </a:rPr>
              <a:t>4 tareas de flujos de datos para Cliente, Transportista, Empleado y Producto.</a:t>
            </a:r>
          </a:p>
          <a:p>
            <a:pPr marL="285750" indent="-285750" algn="l">
              <a:lnSpc>
                <a:spcPts val="2320"/>
              </a:lnSpc>
              <a:buFont typeface="Arial" panose="020B0604020202020204" pitchFamily="34" charset="0"/>
              <a:buChar char="•"/>
            </a:pPr>
            <a:r>
              <a:rPr lang="en-US" sz="1600" b="1" dirty="0">
                <a:latin typeface="+mj-lt"/>
              </a:rPr>
              <a:t>Secuencia: </a:t>
            </a:r>
            <a:r>
              <a:rPr lang="en-US" sz="1600" dirty="0">
                <a:latin typeface="+mj-lt"/>
              </a:rPr>
              <a:t>La tabla de hechos y la validacion se ejecutan solo después de que las dimensiones están pobladas.</a:t>
            </a:r>
          </a:p>
          <a:p>
            <a:pPr marL="285750" indent="-285750" algn="l">
              <a:lnSpc>
                <a:spcPts val="2320"/>
              </a:lnSpc>
              <a:buFont typeface="Arial" panose="020B0604020202020204" pitchFamily="34" charset="0"/>
              <a:buChar char="•"/>
            </a:pPr>
            <a:endParaRPr lang="en-US" sz="1600" dirty="0">
              <a:latin typeface="+mj-lt"/>
            </a:endParaRPr>
          </a:p>
          <a:p>
            <a:pPr algn="l">
              <a:lnSpc>
                <a:spcPts val="2320"/>
              </a:lnSpc>
            </a:pPr>
            <a:r>
              <a:rPr lang="en-US" b="1" dirty="0">
                <a:latin typeface="+mj-lt"/>
              </a:rPr>
              <a:t>Transformaciones clave en Dimensiones</a:t>
            </a:r>
          </a:p>
          <a:p>
            <a:pPr marL="285750" indent="-285750" algn="l">
              <a:lnSpc>
                <a:spcPts val="2320"/>
              </a:lnSpc>
              <a:buFont typeface="Arial" panose="020B0604020202020204" pitchFamily="34" charset="0"/>
              <a:buChar char="•"/>
            </a:pPr>
            <a:r>
              <a:rPr lang="en-US" sz="1600" b="1" dirty="0">
                <a:latin typeface="+mj-lt"/>
              </a:rPr>
              <a:t>DimProducto</a:t>
            </a:r>
            <a:r>
              <a:rPr lang="en-US" sz="1600" dirty="0">
                <a:latin typeface="+mj-lt"/>
              </a:rPr>
              <a:t> (Desnormalización): Se usó un commando SQL en el origen con INNER JOIN entre </a:t>
            </a:r>
            <a:r>
              <a:rPr lang="en-US" sz="1600" b="1" dirty="0">
                <a:latin typeface="+mj-lt"/>
              </a:rPr>
              <a:t>Productos</a:t>
            </a:r>
            <a:r>
              <a:rPr lang="en-US" sz="1600" dirty="0">
                <a:latin typeface="+mj-lt"/>
              </a:rPr>
              <a:t>, </a:t>
            </a:r>
            <a:r>
              <a:rPr lang="en-US" sz="1600" b="1" dirty="0">
                <a:latin typeface="+mj-lt"/>
              </a:rPr>
              <a:t>Categorias</a:t>
            </a:r>
            <a:r>
              <a:rPr lang="en-US" sz="1600" dirty="0">
                <a:latin typeface="+mj-lt"/>
              </a:rPr>
              <a:t> y </a:t>
            </a:r>
            <a:r>
              <a:rPr lang="en-US" sz="1600" b="1" dirty="0">
                <a:latin typeface="+mj-lt"/>
              </a:rPr>
              <a:t>Proveedores</a:t>
            </a:r>
            <a:r>
              <a:rPr lang="en-US" sz="1600" dirty="0">
                <a:latin typeface="+mj-lt"/>
              </a:rPr>
              <a:t> para mantener el esquema Estrella.</a:t>
            </a:r>
          </a:p>
          <a:p>
            <a:pPr marL="285750" indent="-285750" algn="l">
              <a:lnSpc>
                <a:spcPts val="2320"/>
              </a:lnSpc>
              <a:buFont typeface="Arial" panose="020B0604020202020204" pitchFamily="34" charset="0"/>
              <a:buChar char="•"/>
            </a:pPr>
            <a:r>
              <a:rPr lang="en-US" sz="1600" b="1" dirty="0">
                <a:latin typeface="+mj-lt"/>
              </a:rPr>
              <a:t>DimEmpleado:</a:t>
            </a:r>
            <a:r>
              <a:rPr lang="en-US" sz="1600" dirty="0">
                <a:latin typeface="+mj-lt"/>
              </a:rPr>
              <a:t> se usó el componente de columna derivada para concatenar </a:t>
            </a:r>
            <a:r>
              <a:rPr lang="en-US" sz="1600" b="1" dirty="0">
                <a:latin typeface="+mj-lt"/>
              </a:rPr>
              <a:t>Nombre</a:t>
            </a:r>
            <a:r>
              <a:rPr lang="en-US" sz="1600" dirty="0">
                <a:latin typeface="+mj-lt"/>
              </a:rPr>
              <a:t> + </a:t>
            </a:r>
            <a:r>
              <a:rPr lang="en-US" sz="1600" b="1" dirty="0">
                <a:latin typeface="+mj-lt"/>
              </a:rPr>
              <a:t>Apellido</a:t>
            </a:r>
            <a:r>
              <a:rPr lang="en-US" sz="1600" dirty="0">
                <a:latin typeface="+mj-lt"/>
              </a:rPr>
              <a:t> y generar </a:t>
            </a:r>
            <a:r>
              <a:rPr lang="en-US" sz="1600" b="1" dirty="0">
                <a:latin typeface="+mj-lt"/>
              </a:rPr>
              <a:t>NombreCompleto</a:t>
            </a:r>
          </a:p>
          <a:p>
            <a:pPr marL="285750" indent="-285750" algn="l">
              <a:lnSpc>
                <a:spcPts val="2320"/>
              </a:lnSpc>
              <a:buFont typeface="Arial" panose="020B0604020202020204" pitchFamily="34" charset="0"/>
              <a:buChar char="•"/>
            </a:pP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7A8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150" dirty="0">
                <a:solidFill>
                  <a:srgbClr val="A05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PROCESO ETL</a:t>
            </a:r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27764"/>
            <a:ext cx="10883392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80"/>
              </a:lnSpc>
              <a:buNone/>
            </a:pPr>
            <a:r>
              <a:rPr lang="en-US" sz="2800" b="1" dirty="0"/>
              <a:t>Tabla De Hechos y Validaciones</a:t>
            </a:r>
          </a:p>
        </p:txBody>
      </p:sp>
      <p:sp>
        <p:nvSpPr>
          <p:cNvPr id="4" name="Text 2"/>
          <p:cNvSpPr/>
          <p:nvPr/>
        </p:nvSpPr>
        <p:spPr>
          <a:xfrm>
            <a:off x="590858" y="2014225"/>
            <a:ext cx="10883392" cy="38303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>
              <a:lnSpc>
                <a:spcPts val="2320"/>
              </a:lnSpc>
            </a:pPr>
            <a:r>
              <a:rPr lang="en-US" b="1" dirty="0"/>
              <a:t>Carga de FactVentas</a:t>
            </a:r>
          </a:p>
          <a:p>
            <a:pPr marL="285750" indent="-285750" algn="l">
              <a:lnSpc>
                <a:spcPts val="2320"/>
              </a:lnSpc>
              <a:buFont typeface="Arial" panose="020B0604020202020204" pitchFamily="34" charset="0"/>
              <a:buChar char="•"/>
            </a:pPr>
            <a:r>
              <a:rPr lang="en-US" sz="1600" b="1" dirty="0"/>
              <a:t>Cálculos: </a:t>
            </a:r>
            <a:r>
              <a:rPr lang="en-US" sz="1600" dirty="0"/>
              <a:t>3 columnas derivadas generan </a:t>
            </a:r>
            <a:r>
              <a:rPr lang="en-US" sz="1600" b="1" dirty="0"/>
              <a:t>MontoBruto</a:t>
            </a:r>
            <a:r>
              <a:rPr lang="en-US" sz="1600" dirty="0"/>
              <a:t>, </a:t>
            </a:r>
            <a:r>
              <a:rPr lang="en-US" sz="1600" b="1" dirty="0"/>
              <a:t>MontoDescuento</a:t>
            </a:r>
            <a:r>
              <a:rPr lang="en-US" sz="1600" dirty="0"/>
              <a:t>, </a:t>
            </a:r>
            <a:r>
              <a:rPr lang="en-US" sz="1600" b="1" dirty="0"/>
              <a:t>MontoNeto</a:t>
            </a:r>
            <a:r>
              <a:rPr lang="en-US" sz="1600" dirty="0"/>
              <a:t> y </a:t>
            </a:r>
            <a:r>
              <a:rPr lang="en-US" sz="1600" b="1" dirty="0"/>
              <a:t>DiasDespacho </a:t>
            </a:r>
            <a:r>
              <a:rPr lang="en-US" sz="1600" dirty="0"/>
              <a:t>(asignando 0 si la fecha de envío es nula).</a:t>
            </a:r>
          </a:p>
          <a:p>
            <a:pPr marL="285750" indent="-285750" algn="l">
              <a:lnSpc>
                <a:spcPts val="2320"/>
              </a:lnSpc>
              <a:buFont typeface="Arial" panose="020B0604020202020204" pitchFamily="34" charset="0"/>
              <a:buChar char="•"/>
            </a:pPr>
            <a:r>
              <a:rPr lang="en-US" sz="1600" b="1" dirty="0"/>
              <a:t>Lookups en Cascada: </a:t>
            </a:r>
            <a:r>
              <a:rPr lang="en-US" sz="1600" dirty="0"/>
              <a:t>6 componentes de Búsqueda </a:t>
            </a:r>
          </a:p>
          <a:p>
            <a:pPr marL="285750" indent="-285750" algn="l">
              <a:lnSpc>
                <a:spcPts val="2320"/>
              </a:lnSpc>
              <a:buFont typeface="Arial" panose="020B0604020202020204" pitchFamily="34" charset="0"/>
              <a:buChar char="•"/>
            </a:pPr>
            <a:r>
              <a:rPr lang="en-US" sz="1600" b="1" dirty="0"/>
              <a:t>Manejo de fechas nulas: </a:t>
            </a:r>
            <a:r>
              <a:rPr lang="en-US" sz="1600" dirty="0"/>
              <a:t>Conversion a formato entero </a:t>
            </a:r>
            <a:r>
              <a:rPr lang="en-US" sz="1600" b="1" dirty="0"/>
              <a:t>AAAAMMDD</a:t>
            </a:r>
            <a:r>
              <a:rPr lang="en-US" sz="1600" dirty="0"/>
              <a:t>. Las 21 órdenes sin envío se mapean a la clave </a:t>
            </a:r>
            <a:r>
              <a:rPr lang="en-US" sz="1600" b="1" dirty="0"/>
              <a:t>-1 (“Sin Fecha”) </a:t>
            </a:r>
            <a:r>
              <a:rPr lang="en-US" sz="1600" dirty="0"/>
              <a:t>de </a:t>
            </a:r>
            <a:r>
              <a:rPr lang="en-US" sz="1600" b="1" dirty="0"/>
              <a:t>DimTiempo.</a:t>
            </a:r>
          </a:p>
          <a:p>
            <a:pPr marL="285750" indent="-285750" algn="l">
              <a:lnSpc>
                <a:spcPts val="2320"/>
              </a:lnSpc>
              <a:buFont typeface="Arial" panose="020B0604020202020204" pitchFamily="34" charset="0"/>
              <a:buChar char="•"/>
            </a:pPr>
            <a:endParaRPr lang="en-US" sz="1600" dirty="0"/>
          </a:p>
          <a:p>
            <a:pPr algn="l">
              <a:lnSpc>
                <a:spcPts val="2320"/>
              </a:lnSpc>
            </a:pPr>
            <a:r>
              <a:rPr lang="en-US" sz="1600" b="1" dirty="0"/>
              <a:t>Validación automática</a:t>
            </a:r>
          </a:p>
          <a:p>
            <a:pPr marL="285750" indent="-285750" algn="l">
              <a:lnSpc>
                <a:spcPts val="2320"/>
              </a:lnSpc>
              <a:buFont typeface="Arial" panose="020B0604020202020204" pitchFamily="34" charset="0"/>
              <a:buChar char="•"/>
            </a:pPr>
            <a:r>
              <a:rPr lang="en-US" sz="1600" b="1" dirty="0"/>
              <a:t>Tarea final que ejecuta 02_validacion_carga-sql comparando Origen vs DW.</a:t>
            </a:r>
          </a:p>
          <a:p>
            <a:pPr marL="285750" indent="-285750" algn="l">
              <a:lnSpc>
                <a:spcPts val="2320"/>
              </a:lnSpc>
              <a:buFont typeface="Arial" panose="020B0604020202020204" pitchFamily="34" charset="0"/>
              <a:buChar char="•"/>
            </a:pPr>
            <a:r>
              <a:rPr lang="en-US" sz="1600" b="1" dirty="0"/>
              <a:t>Resultado: 2.155</a:t>
            </a:r>
            <a:r>
              <a:rPr lang="en-US" sz="1600" dirty="0"/>
              <a:t> filas cargadas, </a:t>
            </a:r>
            <a:r>
              <a:rPr lang="en-US" sz="1600" b="1" dirty="0"/>
              <a:t>$1,265,792.76</a:t>
            </a:r>
            <a:r>
              <a:rPr lang="en-US" sz="1600" dirty="0"/>
              <a:t> en ventas netas, </a:t>
            </a:r>
            <a:r>
              <a:rPr lang="en-US" sz="1600" b="1" dirty="0"/>
              <a:t>0 filas huerfanas</a:t>
            </a:r>
            <a:r>
              <a:rPr lang="en-US" sz="1600" dirty="0"/>
              <a:t>. Todos los controles en “</a:t>
            </a:r>
            <a:r>
              <a:rPr lang="en-US" sz="1600" b="1" dirty="0"/>
              <a:t>OK</a:t>
            </a:r>
            <a:r>
              <a:rPr lang="en-US" sz="1600" dirty="0"/>
              <a:t>”</a:t>
            </a:r>
          </a:p>
        </p:txBody>
      </p:sp>
      <p:sp>
        <p:nvSpPr>
          <p:cNvPr id="5" name="Text 3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7A8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566188247"/>
      </p:ext>
    </p:extLst>
  </p:cSld>
  <p:clrMapOvr>
    <a:masterClrMapping/>
  </p:clrMapOvr>
</p:sld>
</file>

<file path=ppt/theme/theme1.xml><?xml version="1.0" encoding="utf-8"?>
<a:theme xmlns:a="http://schemas.openxmlformats.org/drawingml/2006/main" name="Kent Foods – Fase 1">
  <a:themeElements>
    <a:clrScheme name="Kent Foods – Fase 1">
      <a:dk1>
        <a:srgbClr val="1B2A3A"/>
      </a:dk1>
      <a:lt1>
        <a:srgbClr val="F7F6F2"/>
      </a:lt1>
      <a:dk2>
        <a:srgbClr val="525D68"/>
      </a:dk2>
      <a:lt2>
        <a:srgbClr val="E1E2E0"/>
      </a:lt2>
      <a:accent1>
        <a:srgbClr val="A0521A"/>
      </a:accent1>
      <a:accent2>
        <a:srgbClr val="E8A35A"/>
      </a:accent2>
      <a:accent3>
        <a:srgbClr val="3E4A57"/>
      </a:accent3>
      <a:accent4>
        <a:srgbClr val="C9D3DD"/>
      </a:accent4>
      <a:accent5>
        <a:srgbClr val="7A8591"/>
      </a:accent5>
      <a:accent6>
        <a:srgbClr val="8FA0B1"/>
      </a:accent6>
      <a:hlink>
        <a:srgbClr val="0563C1"/>
      </a:hlink>
      <a:folHlink>
        <a:srgbClr val="954F72"/>
      </a:folHlink>
    </a:clrScheme>
    <a:fontScheme name="Kent Foods – Fase 1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</TotalTime>
  <Words>1271</Words>
  <Application>Microsoft Office PowerPoint</Application>
  <PresentationFormat>Panorámica</PresentationFormat>
  <Paragraphs>180</Paragraphs>
  <Slides>12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6" baseType="lpstr">
      <vt:lpstr>Aptos</vt:lpstr>
      <vt:lpstr>Arial</vt:lpstr>
      <vt:lpstr>Georgia</vt:lpstr>
      <vt:lpstr>Kent Foods – Fase 1</vt:lpstr>
      <vt:lpstr>Kent Foods</vt:lpstr>
      <vt:lpstr>Una base para operar, no para decidir</vt:lpstr>
      <vt:lpstr>Lo que encontramos y cómo cambió el diseño</vt:lpstr>
      <vt:lpstr>Seis indicadores: venta y despacho</vt:lpstr>
      <vt:lpstr>Proceso de negocio y granularidad</vt:lpstr>
      <vt:lpstr>Dimensiones y medidas</vt:lpstr>
      <vt:lpstr>Modelo estrella implementado en KentFoodsDW</vt:lpstr>
      <vt:lpstr>Por qué estrella y qué quedó fuera</vt:lpstr>
      <vt:lpstr>01_crear_modelo_dimensional.sql</vt:lpstr>
      <vt:lpstr>Valores que el ETL debe reproducir</vt:lpstr>
      <vt:lpstr>Arquitectura y dimensiones</vt:lpstr>
      <vt:lpstr>Tabla De Hechos y Validaciones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Kent Foods – Fase 1</dc:title>
  <dc:subject/>
  <dc:creator/>
  <cp:lastModifiedBy>Cristian Salinas Rios (Alumno)</cp:lastModifiedBy>
  <cp:revision>8</cp:revision>
  <dcterms:created xsi:type="dcterms:W3CDTF">2026-10-19T00:39:36Z</dcterms:created>
  <dcterms:modified xsi:type="dcterms:W3CDTF">2026-10-21T00:28:34Z</dcterms:modified>
</cp:coreProperties>
</file>