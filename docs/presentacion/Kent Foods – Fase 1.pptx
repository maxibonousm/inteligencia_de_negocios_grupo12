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6377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equipo y el caso: Kent Foods, empresa que vende alimentos por envío. Esta fase cubre el modelo dimensional y el ETL.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dueño no tiene una visión consolidada. La base está normalizada para registrar transacciones; para analizar hay que transformarla en un modelo dimensional.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diseñar se revisó la calidad de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cuatro primeros (tarjetas claras) miden el resultado comercial; los dos oscuros miden el envío, núcleo del negocio. Valores calculados sobre los datos actuales. No hay KPI de margen porque no existen costos.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grano fuera la orden, perderíamos el análisis por producto y categoría.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DimTiempo es role-playing: se usa para fecha de orden y fecha de envío. Los montos se calculan en el ETL porque no existen en el origen.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tabla de hechos al centro y cinco dimensiones. DimTiempo se conecta dos veces. PK del hecho: OrdenID + ProductoKey, que es exactamente el grano.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probable en la interrogación: ¿por qué no incluyeron territorios? Porque necesitaríamos una tabla puente y las ventas se contarían una vez por cada territorio del empleado.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sugerida: mostrar en SSMS las tablas creadas y el diagrama de base de datos con las 7 relaciones. Montos en DECIMAL para evitar errores de redondeo del tipo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También: 91 clientes, 77 productos, 9 empleados, 3 transportistas, 21 órdenes con FechaEnvioKey −1. Ventas por año: 2016 208.083,95 · 2017 617.085,05 · 2018 440.623,76.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Espacio para la parte del integrante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7761"/>
            <a:ext cx="105664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99921"/>
            <a:ext cx="10566400" cy="414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7761"/>
            <a:ext cx="105664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99921"/>
            <a:ext cx="10566400" cy="414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200" dirty="0">
                <a:solidFill>
                  <a:srgbClr val="E8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DE NEGOCIOS · CERTAMEN 2 · FASE 1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0350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7F6F2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Kent Foods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606800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dimensional y proceso ETL para apoyar la toma de decisiones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5511800"/>
            <a:ext cx="340007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Maximiliano Bono · Cristian Salinas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300 · Profesor: Hernán Saavedra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61876" y="5796280"/>
            <a:ext cx="22173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UTFSM · Octubre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A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6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Una base para operar, no para decidir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50720"/>
            <a:ext cx="324408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2352040"/>
            <a:ext cx="3244088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3E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Foods vende alimentos por envío y creció rápido. Su base transaccional registra órdenes, productos, clientes, empleados y transportistas.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67200" y="1950720"/>
            <a:ext cx="324408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67200" y="2352040"/>
            <a:ext cx="3244088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3E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cuánto se vendió por categoría o cuánto demoran los despachos exige unir 5 a 6 tablas y calcular montos que no están guardados.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21600" y="1950720"/>
            <a:ext cx="3657600" cy="1874520"/>
          </a:xfrm>
          <a:prstGeom prst="roundRect">
            <a:avLst>
              <a:gd name="adj" fmla="val 4065"/>
            </a:avLst>
          </a:prstGeom>
          <a:solidFill>
            <a:srgbClr val="1B2A3A"/>
          </a:solidFill>
          <a:ln/>
        </p:spPr>
      </p:sp>
      <p:sp>
        <p:nvSpPr>
          <p:cNvPr id="9" name="Text 7"/>
          <p:cNvSpPr/>
          <p:nvPr/>
        </p:nvSpPr>
        <p:spPr>
          <a:xfrm>
            <a:off x="7975600" y="2204720"/>
            <a:ext cx="324408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75600" y="2606040"/>
            <a:ext cx="3244088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solución de BI para seguir ventas, descuentos, vendedores y despachos.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A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LOS DATOS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Lo que encontramos y cómo cambió el diseño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59280"/>
          <a:ext cx="10556240" cy="2729230"/>
        </p:xfrm>
        <a:graphic>
          <a:graphicData uri="http://schemas.openxmlformats.org/drawingml/2006/table">
            <a:tbl>
              <a:tblPr/>
              <a:tblGrid>
                <a:gridCol w="2533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1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1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Hallazgo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Decisión en el modelo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Período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830 órdenes, 2.155 líneas (jul-2016 a may-2018)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DimTiempo 2016–2018; comparar períodos equivalentes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envío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 órdenes sin FechaEnvio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Miembro especial −1 “Sin fecha”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Precio histórico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 líneas con precio distinto al de lista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Montos con el precio de DetalleOrden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País de envío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Igual al país del cliente en el 100 %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dimensión de destino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Integridad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huérfanos, 0 duplicados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FK sin filas “desconocido”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hay costo de producto ni flete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se mide margen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B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A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Seis indicadores: venta y despacho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99920"/>
            <a:ext cx="3420507" cy="1574800"/>
          </a:xfrm>
          <a:prstGeom prst="roundRect">
            <a:avLst>
              <a:gd name="adj" fmla="val 4839"/>
            </a:avLst>
          </a:prstGeom>
          <a:solidFill>
            <a:srgbClr val="F7F6F2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103120"/>
            <a:ext cx="31045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$1,27 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16000" y="2580641"/>
            <a:ext cx="310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netas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6000" y="2844800"/>
            <a:ext cx="31045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Crecimiento ene–abr 2018 vs 2017: +120,7 %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5707" y="1899920"/>
            <a:ext cx="3420507" cy="1574800"/>
          </a:xfrm>
          <a:prstGeom prst="roundRect">
            <a:avLst>
              <a:gd name="adj" fmla="val 4839"/>
            </a:avLst>
          </a:prstGeom>
          <a:solidFill>
            <a:srgbClr val="F7F6F2"/>
          </a:solidFill>
          <a:ln/>
        </p:spPr>
      </p:sp>
      <p:sp>
        <p:nvSpPr>
          <p:cNvPr id="9" name="Text 7"/>
          <p:cNvSpPr/>
          <p:nvPr/>
        </p:nvSpPr>
        <p:spPr>
          <a:xfrm>
            <a:off x="4588907" y="2103120"/>
            <a:ext cx="31045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$1.525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88907" y="2580641"/>
            <a:ext cx="310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promedio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88907" y="2844800"/>
            <a:ext cx="310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netas / órdenes distintas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8614" y="1899920"/>
            <a:ext cx="3420507" cy="1574800"/>
          </a:xfrm>
          <a:prstGeom prst="roundRect">
            <a:avLst>
              <a:gd name="adj" fmla="val 4839"/>
            </a:avLst>
          </a:prstGeom>
          <a:solidFill>
            <a:srgbClr val="F7F6F2"/>
          </a:solidFill>
          <a:ln/>
        </p:spPr>
      </p:sp>
      <p:sp>
        <p:nvSpPr>
          <p:cNvPr id="13" name="Text 11"/>
          <p:cNvSpPr/>
          <p:nvPr/>
        </p:nvSpPr>
        <p:spPr>
          <a:xfrm>
            <a:off x="8161814" y="2103120"/>
            <a:ext cx="31045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6,55 %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61814" y="2580641"/>
            <a:ext cx="310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Descuento otorgado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61814" y="2844800"/>
            <a:ext cx="310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Monto descuento / monto bruto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3627120"/>
            <a:ext cx="3420507" cy="1361440"/>
          </a:xfrm>
          <a:prstGeom prst="roundRect">
            <a:avLst>
              <a:gd name="adj" fmla="val 5597"/>
            </a:avLst>
          </a:prstGeom>
          <a:solidFill>
            <a:srgbClr val="F7F6F2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3830320"/>
            <a:ext cx="31045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vendedores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16000" y="4307841"/>
            <a:ext cx="310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por empleado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16000" y="4572000"/>
            <a:ext cx="310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Monto neto y participación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5707" y="3627120"/>
            <a:ext cx="3420507" cy="1361440"/>
          </a:xfrm>
          <a:prstGeom prst="roundRect">
            <a:avLst>
              <a:gd name="adj" fmla="val 5597"/>
            </a:avLst>
          </a:prstGeom>
          <a:solidFill>
            <a:srgbClr val="1B2A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88907" y="3830320"/>
            <a:ext cx="31045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8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8,5 días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88907" y="4307841"/>
            <a:ext cx="310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 despacho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88907" y="4572000"/>
            <a:ext cx="310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orden → envío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8614" y="3627120"/>
            <a:ext cx="3420507" cy="1361440"/>
          </a:xfrm>
          <a:prstGeom prst="roundRect">
            <a:avLst>
              <a:gd name="adj" fmla="val 5597"/>
            </a:avLst>
          </a:prstGeom>
          <a:solidFill>
            <a:srgbClr val="1B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8161814" y="3830320"/>
            <a:ext cx="31045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8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2,5 %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161814" y="4307841"/>
            <a:ext cx="310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Órdenes pendientes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61814" y="4572000"/>
            <a:ext cx="310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de 830 sin enviar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A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KIMBALL · PASOS 1 Y 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Proceso de negocio y granularidad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63421"/>
            <a:ext cx="5130800" cy="0"/>
          </a:xfrm>
          <a:prstGeom prst="line">
            <a:avLst/>
          </a:prstGeom>
          <a:noFill/>
          <a:ln w="25400">
            <a:solidFill>
              <a:srgbClr val="A05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179321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 · Proceso de negocio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519682"/>
            <a:ext cx="528472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800" y="2981961"/>
            <a:ext cx="5284724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3E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toma y despacho de órdenes. Es el proceso que genera ingresos y el único con hechos medibles: cantidades, precios, descuentos y fechas. Todos los KPI salen de él, así que basta una tabla de hechos.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48400" y="1963421"/>
            <a:ext cx="5130800" cy="0"/>
          </a:xfrm>
          <a:prstGeom prst="line">
            <a:avLst/>
          </a:prstGeom>
          <a:noFill/>
          <a:ln w="25400">
            <a:solidFill>
              <a:srgbClr val="A052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48400" y="2179321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· Granularidad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48400" y="2519682"/>
            <a:ext cx="528472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fila por producto en una orden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48400" y="2981961"/>
            <a:ext cx="5284724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3E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 a una línea de DetalleOrden. Es el nivel más fino: desde ahí se agrega a orden, cliente o mes, pero no al revés. Coincide 1 a 1 con el origen: 2.155 filas esperadas.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A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KIMBALL · PASOS 3 Y 4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Dimensiones y medidas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49121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 · Dimensiones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74242"/>
          <a:ext cx="5120640" cy="2141220"/>
        </p:xfrm>
        <a:graphic>
          <a:graphicData uri="http://schemas.openxmlformats.org/drawingml/2006/table">
            <a:tbl>
              <a:tblPr/>
              <a:tblGrid>
                <a:gridCol w="2150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Responde 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DimTiempo (×2)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¿Cuándo se pidió y se envió?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DimCliente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¿A quién? ¿Dónde?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DimProducto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¿Qué? (con categoría y proveedor)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DimEmpleado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¿Quién vendió?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DimTransportista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¿Quién despachó?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417061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OrdenID queda en el hecho como dimensión degenerada.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48400" y="1849121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4 · Hecho: FactVentas</a:t>
            </a:r>
            <a:endParaRPr lang="en-US" sz="1200" dirty="0"/>
          </a:p>
        </p:txBody>
      </p:sp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8560" y="2174242"/>
          <a:ext cx="5120640" cy="2372360"/>
        </p:xfrm>
        <a:graphic>
          <a:graphicData uri="http://schemas.openxmlformats.org/drawingml/2006/table">
            <a:tbl>
              <a:tblPr/>
              <a:tblGrid>
                <a:gridCol w="2150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Cantidad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Aditiva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MontoBruto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Aditiva (cant. × precio)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MontoDescuento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Aditiva (bruto × desc.)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MontoNeto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Aditiva (bruto − desc.)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Precio, Descuento, DiasDespacho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aditivas: solo promediar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883392" cy="432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Modelo estrella implementado en KentFoodsDW</a:t>
            </a:r>
            <a:endParaRPr lang="en-US" sz="2800" dirty="0"/>
          </a:p>
        </p:txBody>
      </p:sp>
      <p:pic>
        <p:nvPicPr>
          <p:cNvPr id="3" name="Image 0" descr="Diagrama estrella: FactVentas al centro relacionada con DimTiempo (dos veces), DimCliente, DimProducto, DimEmpleado y DimTransportista"/>
          <p:cNvPicPr>
            <a:picLocks noChangeAspect="1"/>
          </p:cNvPicPr>
          <p:nvPr/>
        </p:nvPicPr>
        <p:blipFill>
          <a:blip r:embed="rId3"/>
          <a:srcRect l="-63669" r="-63669"/>
          <a:stretch/>
        </p:blipFill>
        <p:spPr>
          <a:xfrm>
            <a:off x="812800" y="1168719"/>
            <a:ext cx="10566400" cy="46732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A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DE DISEÑO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Por qué estrella y qué quedó fuera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99921"/>
            <a:ext cx="528472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Estrella, no copo de nieve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96620" y="2301239"/>
            <a:ext cx="5193284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3E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Dimensiones pequeñas: máximo 91 filas</a:t>
            </a:r>
            <a:endParaRPr lang="en-US" sz="1500" dirty="0"/>
          </a:p>
          <a:p>
            <a:pPr marL="170180" indent="-17018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3E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JOIN por dimensión</a:t>
            </a:r>
            <a:endParaRPr lang="en-US" sz="1500" dirty="0"/>
          </a:p>
          <a:p>
            <a:pPr marL="170180" indent="-17018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3E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SSAS y Power BI trabajan mejor con dimensiones planas</a:t>
            </a:r>
            <a:endParaRPr lang="en-US" sz="1500" dirty="0"/>
          </a:p>
          <a:p>
            <a:pPr marL="170180" indent="-17018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3E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Categoría y Proveedor no aporta análisis nuevo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48400" y="1899921"/>
            <a:ext cx="528472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Excluido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32220" y="2301239"/>
            <a:ext cx="5193284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3E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Territorios y Regiones: muchos a muchos con empleados y la orden no registra territorio; generaría doble conteo</a:t>
            </a:r>
            <a:endParaRPr lang="en-US" sz="1500" dirty="0"/>
          </a:p>
          <a:p>
            <a:pPr marL="170180" indent="-17018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3E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Destino de envío: redundante con el país del cliente</a:t>
            </a:r>
            <a:endParaRPr lang="en-US" sz="1500" dirty="0"/>
          </a:p>
          <a:p>
            <a:pPr marL="170180" indent="-17018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3E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Imágenes, direcciones y teléfonos: sin uso analítico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B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A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EN SQL SERVER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01_crear_modelo_dimensional.sql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99921"/>
            <a:ext cx="5207000" cy="1239520"/>
          </a:xfrm>
          <a:prstGeom prst="roundRect">
            <a:avLst>
              <a:gd name="adj" fmla="val 6148"/>
            </a:avLst>
          </a:prstGeom>
          <a:solidFill>
            <a:srgbClr val="F7F6F2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128521"/>
            <a:ext cx="489229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separada KentFoodsDW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1400" y="2448564"/>
            <a:ext cx="489229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mezcla el entorno transaccional con el analítico. Se puede re-ejecutar desde cero.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899921"/>
            <a:ext cx="5207000" cy="1239520"/>
          </a:xfrm>
          <a:prstGeom prst="roundRect">
            <a:avLst>
              <a:gd name="adj" fmla="val 6148"/>
            </a:avLst>
          </a:prstGeom>
          <a:solidFill>
            <a:srgbClr val="F7F6F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128521"/>
            <a:ext cx="489229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Claves sustitutas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448564"/>
            <a:ext cx="489229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 IDENTITY en cada dimensión; la clave natural se guarda para los Lookup del ETL. SCD tipo 1.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00" y="3291842"/>
            <a:ext cx="5207000" cy="1239520"/>
          </a:xfrm>
          <a:prstGeom prst="roundRect">
            <a:avLst>
              <a:gd name="adj" fmla="val 6148"/>
            </a:avLst>
          </a:prstGeom>
          <a:solidFill>
            <a:srgbClr val="F7F6F2"/>
          </a:solidFill>
          <a:ln/>
        </p:spPr>
      </p:sp>
      <p:sp>
        <p:nvSpPr>
          <p:cNvPr id="11" name="Text 9"/>
          <p:cNvSpPr/>
          <p:nvPr/>
        </p:nvSpPr>
        <p:spPr>
          <a:xfrm>
            <a:off x="1041400" y="3520442"/>
            <a:ext cx="489229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= granularidad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1400" y="3840479"/>
            <a:ext cx="489229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(OrdenID, ProductoKey) rechaza líneas duplicadas. 7 FK aseguran la integridad.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291842"/>
            <a:ext cx="5207000" cy="1239520"/>
          </a:xfrm>
          <a:prstGeom prst="roundRect">
            <a:avLst>
              <a:gd name="adj" fmla="val 6148"/>
            </a:avLst>
          </a:prstGeom>
          <a:solidFill>
            <a:srgbClr val="F7F6F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520442"/>
            <a:ext cx="489229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DimTiempo generada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840479"/>
            <a:ext cx="489229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 AAAAMMDD, 2016–2018 más la fila −1. Nombres en español con CHOOSE.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E8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 LA CARGA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7F6F2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Valores que el ETL debe reproducir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001521"/>
            <a:ext cx="2848715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E8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2.155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12800" y="2763521"/>
            <a:ext cx="284871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filas en FactVentas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83342" y="2001521"/>
            <a:ext cx="2848797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E8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883342" y="2763521"/>
            <a:ext cx="284879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órdenes distintas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53965" y="2001521"/>
            <a:ext cx="455799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E8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1.265.792,76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953965" y="2763521"/>
            <a:ext cx="45579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monto neto total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3436621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02_validacion_carga.sql compara origen y DW fila a fila; cada control debe decir OK.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A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ETL</a:t>
            </a: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Carga con SSIS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99921"/>
            <a:ext cx="10883392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3E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[Sección a completar: flujo de control, carga de dimensiones, Lookups y columnas derivadas de FactVentas, manejo de FechaEnvio nula y resultado de la validación.]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nt Foods – Fase 1">
  <a:themeElements>
    <a:clrScheme name="Kent Foods – Fase 1">
      <a:dk1>
        <a:srgbClr val="1B2A3A"/>
      </a:dk1>
      <a:lt1>
        <a:srgbClr val="F7F6F2"/>
      </a:lt1>
      <a:dk2>
        <a:srgbClr val="525D68"/>
      </a:dk2>
      <a:lt2>
        <a:srgbClr val="E1E2E0"/>
      </a:lt2>
      <a:accent1>
        <a:srgbClr val="A0521A"/>
      </a:accent1>
      <a:accent2>
        <a:srgbClr val="E8A35A"/>
      </a:accent2>
      <a:accent3>
        <a:srgbClr val="3E4A57"/>
      </a:accent3>
      <a:accent4>
        <a:srgbClr val="C9D3DD"/>
      </a:accent4>
      <a:accent5>
        <a:srgbClr val="7A8591"/>
      </a:accent5>
      <a:accent6>
        <a:srgbClr val="8FA0B1"/>
      </a:accent6>
      <a:hlink>
        <a:srgbClr val="0563C1"/>
      </a:hlink>
      <a:folHlink>
        <a:srgbClr val="954F72"/>
      </a:folHlink>
    </a:clrScheme>
    <a:fontScheme name="Kent Foods – Fase 1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1067</Words>
  <Application>Microsoft Office PowerPoint</Application>
  <PresentationFormat>Widescreen</PresentationFormat>
  <Paragraphs>160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Georgia</vt:lpstr>
      <vt:lpstr>Kent Foods – Fase 1</vt:lpstr>
      <vt:lpstr>Kent Foods</vt:lpstr>
      <vt:lpstr>Una base para operar, no para decidir</vt:lpstr>
      <vt:lpstr>Lo que encontramos y cómo cambió el diseño</vt:lpstr>
      <vt:lpstr>Seis indicadores: venta y despacho</vt:lpstr>
      <vt:lpstr>Proceso de negocio y granularidad</vt:lpstr>
      <vt:lpstr>Dimensiones y medidas</vt:lpstr>
      <vt:lpstr>Modelo estrella implementado en KentFoodsDW</vt:lpstr>
      <vt:lpstr>Por qué estrella y qué quedó fuera</vt:lpstr>
      <vt:lpstr>01_crear_modelo_dimensional.sql</vt:lpstr>
      <vt:lpstr>Valores que el ETL debe reproducir</vt:lpstr>
      <vt:lpstr>Carga con SSIS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Kent Foods – Fase 1</dc:title>
  <dc:subject/>
  <dc:creator/>
  <cp:lastModifiedBy>Maxi Bono</cp:lastModifiedBy>
  <cp:revision>2</cp:revision>
  <dcterms:created xsi:type="dcterms:W3CDTF">2026-10-19T00:39:36Z</dcterms:created>
  <dcterms:modified xsi:type="dcterms:W3CDTF">2026-10-19T01:06:02Z</dcterms:modified>
</cp:coreProperties>
</file>