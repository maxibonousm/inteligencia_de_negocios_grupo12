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70" r:id="rId3"/>
    <p:sldId id="258" r:id="rId4"/>
    <p:sldId id="259" r:id="rId5"/>
    <p:sldId id="260" r:id="rId6"/>
    <p:sldId id="261" r:id="rId7"/>
    <p:sldId id="262" r:id="rId8"/>
    <p:sldId id="269" r:id="rId9"/>
    <p:sldId id="268"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90" d="100"/>
          <a:sy n="90" d="100"/>
        </p:scale>
        <p:origin x="370" y="-1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63772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 el equipo y el caso: Kent Foods, empresa que vende alimentos por envío. Esta fase cubre el modelo dimensional y el ETL.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dueño no tiene una visión consolidada. La base está normalizada para registrar transacciones; para analizar hay que transformarla en un modelo dimensional.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diseñar se revisó la calidad de los datos.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Cuatro KPI miden el resultado comercial y dos la operación de envío, que es el centro del negocio. El ticket usa COUNT DISTINCT porque el hecho tiene una fila por producto, no por orden. El tiempo de despacho se promedia por orden y solo sobre órdenes enviadas. No hay KPI de margen porque no existen costos en la base.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Paso 1: Ventas es el proceso que genera ingresos y el único con datos medibles. Paso 2: el grano es la línea de orden. Si fuera la orden completa, se perdería el análisis por producto y categoría. La clave primaria del hecho es exactamente ese grano, así SQL Server rechaza duplicados.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Arriba en el bloque están las 7 claves del hecho: una por dimensión, dos hacia DimTiempo, y OrdenID como dimensión degenerada para contar órdenes. Abajo las medidas: las tres primeras vienen del origen y los montos y días se calculan en el ETL.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tabla de hechos al centro y cinco dimensiones. DimTiempo se conecta dos veces. PK del hecho: OrdenID + ProductoKey, que es exactamente el grano.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probable en la interrogación: ¿por qué no incluyeron territorios? Porque necesitaríamos una tabla puente y las ventas se contarían una vez por cada territorio del </a:t>
            </a:r>
            <a:r>
              <a:rPr lang="en-US" dirty="0" err="1"/>
              <a:t>empleado</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Demostración sugerida: mostrar en SSMS las tablas creadas y el diagrama de base de datos con las 7 relaciones. Montos en DECIMAL para evitar errores de redondeo del tipo real.</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script 02_validacion_carga.sql cuenta filas, órdenes y suma montos en el origen y en el DW, y marca OK cuando coinciden. También revisa que no haya hechos sin dimensión y muestra las ventas por año. Otros controles: 91 clientes, 77 productos, 9 empleados y 3 transportistas.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El paquete Main.dtsx primero vacía el DW, luego carga las 4 dimensiones en paralelo y después la tabla de hechos. DimProducto se desnormaliza con una consulta SQL y DimEmpleado arma NombreCompleto con una columna derivada.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tabla de hechos se carga desde DetalleOrden unida con Ordenes. Columnas derivadas calculan montos y días; seis Lookups convierten los ID en claves sustitutas; las fechas se convierten a AAAAMMDD y las órdenes sin envío van a la clave -1. Al final, la tarea SQL_Validacion_Carga compara origen y DW.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3730138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6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61"/>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1B2A3A"/>
                </a:solidFill>
                <a:latin typeface="Georgia" pitchFamily="34" charset="0"/>
                <a:ea typeface="Georgia" pitchFamily="34" charset="-122"/>
                <a:cs typeface="Georgia"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99921"/>
            <a:ext cx="10566400" cy="4145279"/>
          </a:xfrm>
          <a:prstGeom prst="rect">
            <a:avLst/>
          </a:prstGeom>
          <a:noFill/>
          <a:ln/>
        </p:spPr>
        <p:txBody>
          <a:bodyPr wrap="square" lIns="0" tIns="0" rIns="0" bIns="0" rtlCol="0" anchor="t"/>
          <a:lstStyle>
            <a:lvl1pPr marL="0" indent="0" algn="l">
              <a:lnSpc>
                <a:spcPct val="140000"/>
              </a:lnSpc>
              <a:buNone/>
              <a:defRPr lang="en-US" sz="1600" dirty="0">
                <a:solidFill>
                  <a:srgbClr val="1B2A3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6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61"/>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1B2A3A"/>
                </a:solidFill>
                <a:latin typeface="Georgia" pitchFamily="34" charset="0"/>
                <a:ea typeface="Georgia" pitchFamily="34" charset="-122"/>
                <a:cs typeface="Georgia"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99921"/>
            <a:ext cx="10566400" cy="4145279"/>
          </a:xfrm>
          <a:prstGeom prst="rect">
            <a:avLst/>
          </a:prstGeom>
          <a:noFill/>
          <a:ln/>
        </p:spPr>
        <p:txBody>
          <a:bodyPr wrap="square" lIns="0" tIns="0" rIns="0" bIns="0" rtlCol="0" anchor="t"/>
          <a:lstStyle>
            <a:lvl1pPr marL="0" indent="0" algn="l">
              <a:lnSpc>
                <a:spcPct val="140000"/>
              </a:lnSpc>
              <a:buNone/>
              <a:defRPr lang="en-US" sz="1600" dirty="0">
                <a:solidFill>
                  <a:srgbClr val="1B2A3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3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kern="0" spc="200" dirty="0">
                <a:solidFill>
                  <a:srgbClr val="E8A35A"/>
                </a:solidFill>
                <a:latin typeface="Arial" pitchFamily="34" charset="0"/>
                <a:ea typeface="Arial" pitchFamily="34" charset="-122"/>
                <a:cs typeface="Arial" pitchFamily="34" charset="-120"/>
              </a:rPr>
              <a:t>INTELIGENCIA DE NEGOCIOS · CERTAMEN 2 · FASE 1</a:t>
            </a:r>
            <a:endParaRPr lang="en-US" sz="1400" dirty="0"/>
          </a:p>
        </p:txBody>
      </p:sp>
      <p:sp>
        <p:nvSpPr>
          <p:cNvPr id="3" name="Text 1"/>
          <p:cNvSpPr>
            <a:spLocks noGrp="1"/>
          </p:cNvSpPr>
          <p:nvPr>
            <p:ph type="title"/>
          </p:nvPr>
        </p:nvSpPr>
        <p:spPr>
          <a:xfrm>
            <a:off x="812800" y="2603500"/>
            <a:ext cx="10883392" cy="825500"/>
          </a:xfrm>
          <a:prstGeom prst="rect">
            <a:avLst/>
          </a:prstGeom>
          <a:noFill/>
          <a:ln/>
        </p:spPr>
        <p:txBody>
          <a:bodyPr wrap="square" lIns="0" tIns="0" rIns="0" bIns="0" rtlCol="0" anchor="t">
            <a:normAutofit/>
          </a:bodyPr>
          <a:lstStyle/>
          <a:p>
            <a:pPr marL="0" indent="0" algn="l">
              <a:lnSpc>
                <a:spcPts val="6300"/>
              </a:lnSpc>
              <a:buNone/>
            </a:pPr>
            <a:r>
              <a:rPr lang="en-US" sz="6000" b="1" i="0" dirty="0">
                <a:solidFill>
                  <a:srgbClr val="F7F6F2"/>
                </a:solidFill>
                <a:latin typeface="Georgia" pitchFamily="18" charset="0"/>
                <a:ea typeface="Georgia" pitchFamily="18" charset="-122"/>
                <a:cs typeface="Georgia" pitchFamily="18" charset="-120"/>
              </a:rPr>
              <a:t>Kent Foods</a:t>
            </a:r>
            <a:endParaRPr lang="en-US" sz="6000" dirty="0"/>
          </a:p>
        </p:txBody>
      </p:sp>
      <p:sp>
        <p:nvSpPr>
          <p:cNvPr id="4" name="Text 2"/>
          <p:cNvSpPr/>
          <p:nvPr/>
        </p:nvSpPr>
        <p:spPr>
          <a:xfrm>
            <a:off x="812800" y="3606800"/>
            <a:ext cx="10883392" cy="388620"/>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C9D3DD"/>
                </a:solidFill>
                <a:latin typeface="Arial" pitchFamily="34" charset="0"/>
                <a:ea typeface="Arial" pitchFamily="34" charset="-122"/>
                <a:cs typeface="Arial" pitchFamily="34" charset="-120"/>
              </a:rPr>
              <a:t>Modelo dimensional y proceso ETL para apoyar la toma de decisiones</a:t>
            </a:r>
            <a:endParaRPr lang="en-US" sz="2200" dirty="0"/>
          </a:p>
        </p:txBody>
      </p:sp>
      <p:sp>
        <p:nvSpPr>
          <p:cNvPr id="5" name="Text 3"/>
          <p:cNvSpPr/>
          <p:nvPr/>
        </p:nvSpPr>
        <p:spPr>
          <a:xfrm>
            <a:off x="812800" y="5511800"/>
            <a:ext cx="3400079" cy="558800"/>
          </a:xfrm>
          <a:prstGeom prst="rect">
            <a:avLst/>
          </a:prstGeom>
          <a:noFill/>
          <a:ln/>
        </p:spPr>
        <p:txBody>
          <a:bodyPr wrap="square" lIns="0" tIns="0" rIns="0" bIns="0" rtlCol="0" anchor="t">
            <a:normAutofit/>
          </a:bodyPr>
          <a:lstStyle/>
          <a:p>
            <a:pPr marL="0" indent="0" algn="l">
              <a:lnSpc>
                <a:spcPts val="2100"/>
              </a:lnSpc>
              <a:buNone/>
            </a:pPr>
            <a:r>
              <a:rPr lang="en-US" sz="1400" dirty="0">
                <a:solidFill>
                  <a:srgbClr val="C9D3DD"/>
                </a:solidFill>
                <a:latin typeface="Arial" pitchFamily="34" charset="0"/>
                <a:ea typeface="Arial" pitchFamily="34" charset="-122"/>
                <a:cs typeface="Arial" pitchFamily="34" charset="-120"/>
              </a:rPr>
              <a:t>Maximiliano Bono · Cristian Salinas</a:t>
            </a:r>
            <a:endParaRPr lang="en-US" sz="1400" dirty="0"/>
          </a:p>
          <a:p>
            <a:pPr marL="0" indent="0" algn="l">
              <a:lnSpc>
                <a:spcPts val="2100"/>
              </a:lnSpc>
              <a:buNone/>
            </a:pPr>
            <a:r>
              <a:rPr lang="en-US" sz="1400" dirty="0">
                <a:solidFill>
                  <a:srgbClr val="C9D3DD"/>
                </a:solidFill>
                <a:latin typeface="Arial" pitchFamily="34" charset="0"/>
                <a:ea typeface="Arial" pitchFamily="34" charset="-122"/>
                <a:cs typeface="Arial" pitchFamily="34" charset="-120"/>
              </a:rPr>
              <a:t>Sección 300 · Profesor: Hernán Saavedra</a:t>
            </a:r>
            <a:endParaRPr lang="en-US" sz="1400" dirty="0"/>
          </a:p>
        </p:txBody>
      </p:sp>
      <p:sp>
        <p:nvSpPr>
          <p:cNvPr id="6" name="Text 4"/>
          <p:cNvSpPr/>
          <p:nvPr/>
        </p:nvSpPr>
        <p:spPr>
          <a:xfrm>
            <a:off x="9161876" y="5796280"/>
            <a:ext cx="2217325" cy="274320"/>
          </a:xfrm>
          <a:prstGeom prst="rect">
            <a:avLst/>
          </a:prstGeom>
          <a:noFill/>
          <a:ln/>
        </p:spPr>
        <p:txBody>
          <a:bodyPr wrap="square" lIns="0" tIns="0" rIns="0" bIns="0" rtlCol="0" anchor="t">
            <a:normAutofit/>
          </a:bodyPr>
          <a:lstStyle/>
          <a:p>
            <a:pPr marL="0" indent="0" algn="r">
              <a:lnSpc>
                <a:spcPts val="1960"/>
              </a:lnSpc>
              <a:buNone/>
            </a:pPr>
            <a:r>
              <a:rPr lang="en-US" sz="1400" dirty="0">
                <a:solidFill>
                  <a:srgbClr val="C9D3DD"/>
                </a:solidFill>
                <a:latin typeface="Arial" pitchFamily="34" charset="0"/>
                <a:ea typeface="Arial" pitchFamily="34" charset="-122"/>
                <a:cs typeface="Arial" pitchFamily="34" charset="-120"/>
              </a:rPr>
              <a:t>UTFSM · Octubre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A0521A"/>
                </a:solidFill>
                <a:latin typeface="Arial" pitchFamily="34" charset="0"/>
                <a:ea typeface="Arial" pitchFamily="34" charset="-122"/>
                <a:cs typeface="Arial" pitchFamily="34" charset="-120"/>
              </a:rPr>
              <a:t>CONTEXTO</a:t>
            </a:r>
            <a:endParaRPr lang="en-US" sz="1200" dirty="0"/>
          </a:p>
        </p:txBody>
      </p:sp>
      <p:sp>
        <p:nvSpPr>
          <p:cNvPr id="3" name="Text 1"/>
          <p:cNvSpPr>
            <a:spLocks noGrp="1"/>
          </p:cNvSpPr>
          <p:nvPr>
            <p:ph type="title"/>
          </p:nvPr>
        </p:nvSpPr>
        <p:spPr>
          <a:xfrm>
            <a:off x="812800" y="1127760"/>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Una base para operar, no para decidir</a:t>
            </a:r>
            <a:endParaRPr lang="en-US" sz="3200" dirty="0"/>
          </a:p>
        </p:txBody>
      </p:sp>
      <p:sp>
        <p:nvSpPr>
          <p:cNvPr id="4" name="Text 2"/>
          <p:cNvSpPr/>
          <p:nvPr/>
        </p:nvSpPr>
        <p:spPr>
          <a:xfrm>
            <a:off x="812800" y="1950720"/>
            <a:ext cx="3244088"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2A3A"/>
                </a:solidFill>
                <a:latin typeface="Arial" pitchFamily="34" charset="0"/>
                <a:ea typeface="Arial" pitchFamily="34" charset="-122"/>
                <a:cs typeface="Arial" pitchFamily="34" charset="-120"/>
              </a:rPr>
              <a:t>Situación</a:t>
            </a:r>
            <a:endParaRPr lang="en-US" sz="1800" dirty="0"/>
          </a:p>
        </p:txBody>
      </p:sp>
      <p:sp>
        <p:nvSpPr>
          <p:cNvPr id="5" name="Text 3"/>
          <p:cNvSpPr/>
          <p:nvPr/>
        </p:nvSpPr>
        <p:spPr>
          <a:xfrm>
            <a:off x="812800" y="2352040"/>
            <a:ext cx="3244088" cy="1498600"/>
          </a:xfrm>
          <a:prstGeom prst="rect">
            <a:avLst/>
          </a:prstGeom>
          <a:noFill/>
          <a:ln/>
        </p:spPr>
        <p:txBody>
          <a:bodyPr wrap="square" lIns="0" tIns="0" rIns="0" bIns="0" rtlCol="0" anchor="t">
            <a:normAutofit/>
          </a:bodyPr>
          <a:lstStyle/>
          <a:p>
            <a:pPr marL="0" indent="0" algn="l">
              <a:lnSpc>
                <a:spcPts val="2320"/>
              </a:lnSpc>
              <a:buNone/>
            </a:pPr>
            <a:r>
              <a:rPr lang="en-US" sz="1600" dirty="0">
                <a:solidFill>
                  <a:srgbClr val="3E4A57"/>
                </a:solidFill>
                <a:latin typeface="Arial" pitchFamily="34" charset="0"/>
                <a:ea typeface="Arial" pitchFamily="34" charset="-122"/>
                <a:cs typeface="Arial" pitchFamily="34" charset="-120"/>
              </a:rPr>
              <a:t>Kent Foods vende alimentos por envío y creció rápido. Su base transaccional registra órdenes, </a:t>
            </a:r>
            <a:r>
              <a:rPr lang="en-US" sz="1600" dirty="0" err="1">
                <a:solidFill>
                  <a:srgbClr val="3E4A57"/>
                </a:solidFill>
                <a:latin typeface="Arial" pitchFamily="34" charset="0"/>
                <a:ea typeface="Arial" pitchFamily="34" charset="-122"/>
                <a:cs typeface="Arial" pitchFamily="34" charset="-120"/>
              </a:rPr>
              <a:t>productos</a:t>
            </a:r>
            <a:r>
              <a:rPr lang="en-US" sz="1600" dirty="0">
                <a:solidFill>
                  <a:srgbClr val="3E4A57"/>
                </a:solidFill>
                <a:latin typeface="Arial" pitchFamily="34" charset="0"/>
                <a:ea typeface="Arial" pitchFamily="34" charset="-122"/>
                <a:cs typeface="Arial" pitchFamily="34" charset="-120"/>
              </a:rPr>
              <a:t>, clientes, empleados y transportistas.</a:t>
            </a:r>
            <a:endParaRPr lang="en-US" sz="1600" dirty="0"/>
          </a:p>
        </p:txBody>
      </p:sp>
      <p:sp>
        <p:nvSpPr>
          <p:cNvPr id="6" name="Text 4"/>
          <p:cNvSpPr/>
          <p:nvPr/>
        </p:nvSpPr>
        <p:spPr>
          <a:xfrm>
            <a:off x="4267200" y="1950720"/>
            <a:ext cx="3244088"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2A3A"/>
                </a:solidFill>
                <a:latin typeface="Arial" pitchFamily="34" charset="0"/>
                <a:ea typeface="Arial" pitchFamily="34" charset="-122"/>
                <a:cs typeface="Arial" pitchFamily="34" charset="-120"/>
              </a:rPr>
              <a:t>Problema</a:t>
            </a:r>
            <a:endParaRPr lang="en-US" sz="1800" dirty="0"/>
          </a:p>
        </p:txBody>
      </p:sp>
      <p:sp>
        <p:nvSpPr>
          <p:cNvPr id="7" name="Text 5"/>
          <p:cNvSpPr/>
          <p:nvPr/>
        </p:nvSpPr>
        <p:spPr>
          <a:xfrm>
            <a:off x="4267200" y="2352040"/>
            <a:ext cx="3244088" cy="1498600"/>
          </a:xfrm>
          <a:prstGeom prst="rect">
            <a:avLst/>
          </a:prstGeom>
          <a:noFill/>
          <a:ln/>
        </p:spPr>
        <p:txBody>
          <a:bodyPr wrap="square" lIns="0" tIns="0" rIns="0" bIns="0" rtlCol="0" anchor="t">
            <a:normAutofit/>
          </a:bodyPr>
          <a:lstStyle/>
          <a:p>
            <a:pPr marL="0" indent="0" algn="l">
              <a:lnSpc>
                <a:spcPts val="2320"/>
              </a:lnSpc>
              <a:buNone/>
            </a:pPr>
            <a:r>
              <a:rPr lang="en-US" sz="1600" dirty="0">
                <a:solidFill>
                  <a:srgbClr val="3E4A57"/>
                </a:solidFill>
                <a:latin typeface="Arial" pitchFamily="34" charset="0"/>
                <a:ea typeface="Arial" pitchFamily="34" charset="-122"/>
                <a:cs typeface="Arial" pitchFamily="34" charset="-120"/>
              </a:rPr>
              <a:t>Saber cuánto se vendió por categoría o cuánto demoran los despachos exige unir 5 a 6 tablas y calcular montos que no están guardados.</a:t>
            </a:r>
            <a:endParaRPr lang="en-US" sz="1600" dirty="0"/>
          </a:p>
        </p:txBody>
      </p:sp>
      <p:sp>
        <p:nvSpPr>
          <p:cNvPr id="8" name="Shape 6"/>
          <p:cNvSpPr/>
          <p:nvPr/>
        </p:nvSpPr>
        <p:spPr>
          <a:xfrm>
            <a:off x="7721600" y="1950720"/>
            <a:ext cx="3657600" cy="1874520"/>
          </a:xfrm>
          <a:prstGeom prst="roundRect">
            <a:avLst>
              <a:gd name="adj" fmla="val 4065"/>
            </a:avLst>
          </a:prstGeom>
          <a:solidFill>
            <a:srgbClr val="1B2A3A"/>
          </a:solidFill>
          <a:ln/>
        </p:spPr>
      </p:sp>
      <p:sp>
        <p:nvSpPr>
          <p:cNvPr id="9" name="Text 7"/>
          <p:cNvSpPr/>
          <p:nvPr/>
        </p:nvSpPr>
        <p:spPr>
          <a:xfrm>
            <a:off x="7975600" y="2204720"/>
            <a:ext cx="3244088"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7F6F2"/>
                </a:solidFill>
                <a:latin typeface="Arial" pitchFamily="34" charset="0"/>
                <a:ea typeface="Arial" pitchFamily="34" charset="-122"/>
                <a:cs typeface="Arial" pitchFamily="34" charset="-120"/>
              </a:rPr>
              <a:t>Objetivo</a:t>
            </a:r>
            <a:endParaRPr lang="en-US" sz="1800" dirty="0"/>
          </a:p>
        </p:txBody>
      </p:sp>
      <p:sp>
        <p:nvSpPr>
          <p:cNvPr id="10" name="Text 8"/>
          <p:cNvSpPr/>
          <p:nvPr/>
        </p:nvSpPr>
        <p:spPr>
          <a:xfrm>
            <a:off x="7975600" y="2606040"/>
            <a:ext cx="3244088" cy="909320"/>
          </a:xfrm>
          <a:prstGeom prst="rect">
            <a:avLst/>
          </a:prstGeom>
          <a:noFill/>
          <a:ln/>
        </p:spPr>
        <p:txBody>
          <a:bodyPr wrap="square" lIns="0" tIns="0" rIns="0" bIns="0" rtlCol="0" anchor="t">
            <a:normAutofit/>
          </a:bodyPr>
          <a:lstStyle/>
          <a:p>
            <a:pPr marL="0" indent="0" algn="l">
              <a:lnSpc>
                <a:spcPts val="2320"/>
              </a:lnSpc>
              <a:buNone/>
            </a:pPr>
            <a:r>
              <a:rPr lang="en-US" sz="1600" dirty="0">
                <a:solidFill>
                  <a:srgbClr val="C9D3DD"/>
                </a:solidFill>
                <a:latin typeface="Arial" pitchFamily="34" charset="0"/>
                <a:ea typeface="Arial" pitchFamily="34" charset="-122"/>
                <a:cs typeface="Arial" pitchFamily="34" charset="-120"/>
              </a:rPr>
              <a:t>Una solución de BI para seguir ventas, descuentos, vendedores y despachos.</a:t>
            </a:r>
            <a:endParaRPr lang="en-US" sz="1600" dirty="0"/>
          </a:p>
        </p:txBody>
      </p:sp>
      <p:sp>
        <p:nvSpPr>
          <p:cNvPr id="11" name="Text 9"/>
          <p:cNvSpPr/>
          <p:nvPr/>
        </p:nvSpPr>
        <p:spPr>
          <a:xfrm>
            <a:off x="812800" y="6238241"/>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1"/>
                </a:solidFill>
                <a:latin typeface="Arial" pitchFamily="34" charset="0"/>
                <a:ea typeface="Arial" pitchFamily="34" charset="-122"/>
                <a:cs typeface="Arial"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A0521A"/>
                </a:solidFill>
                <a:latin typeface="Arial" pitchFamily="34" charset="0"/>
                <a:ea typeface="Arial" pitchFamily="34" charset="-122"/>
                <a:cs typeface="Arial" pitchFamily="34" charset="-120"/>
              </a:rPr>
              <a:t>ANÁLISIS DE LOS DATOS</a:t>
            </a:r>
            <a:endParaRPr lang="en-US" sz="1200" dirty="0"/>
          </a:p>
        </p:txBody>
      </p:sp>
      <p:sp>
        <p:nvSpPr>
          <p:cNvPr id="3" name="Text 1"/>
          <p:cNvSpPr>
            <a:spLocks noGrp="1"/>
          </p:cNvSpPr>
          <p:nvPr>
            <p:ph type="title"/>
          </p:nvPr>
        </p:nvSpPr>
        <p:spPr>
          <a:xfrm>
            <a:off x="812800" y="1127761"/>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Lo que encontramos y cómo cambió el diseño</a:t>
            </a:r>
            <a:endParaRPr lang="en-US" sz="3200" dirty="0"/>
          </a:p>
        </p:txBody>
      </p:sp>
      <p:graphicFrame>
        <p:nvGraphicFramePr>
          <p:cNvPr id="4" name="Table 0"/>
          <p:cNvGraphicFramePr>
            <a:graphicFrameLocks noGrp="1"/>
          </p:cNvGraphicFramePr>
          <p:nvPr/>
        </p:nvGraphicFramePr>
        <p:xfrm>
          <a:off x="822960" y="1859280"/>
          <a:ext cx="10556240" cy="2729230"/>
        </p:xfrm>
        <a:graphic>
          <a:graphicData uri="http://schemas.openxmlformats.org/drawingml/2006/table">
            <a:tbl>
              <a:tblPr/>
              <a:tblGrid>
                <a:gridCol w="2533498">
                  <a:extLst>
                    <a:ext uri="{9D8B030D-6E8A-4147-A177-3AD203B41FA5}">
                      <a16:colId xmlns:a16="http://schemas.microsoft.com/office/drawing/2014/main" val="20000"/>
                    </a:ext>
                  </a:extLst>
                </a:gridCol>
                <a:gridCol w="4011371">
                  <a:extLst>
                    <a:ext uri="{9D8B030D-6E8A-4147-A177-3AD203B41FA5}">
                      <a16:colId xmlns:a16="http://schemas.microsoft.com/office/drawing/2014/main" val="20001"/>
                    </a:ext>
                  </a:extLst>
                </a:gridCol>
                <a:gridCol w="4011371">
                  <a:extLst>
                    <a:ext uri="{9D8B030D-6E8A-4147-A177-3AD203B41FA5}">
                      <a16:colId xmlns:a16="http://schemas.microsoft.com/office/drawing/2014/main" val="20002"/>
                    </a:ext>
                  </a:extLst>
                </a:gridCol>
              </a:tblGrid>
              <a:tr h="356870">
                <a:tc>
                  <a:txBody>
                    <a:bodyPr/>
                    <a:lstStyle/>
                    <a:p>
                      <a:pPr marL="0" indent="0">
                        <a:lnSpc>
                          <a:spcPts val="1820"/>
                        </a:lnSpc>
                        <a:buNone/>
                      </a:pPr>
                      <a:r>
                        <a:rPr lang="en-US" sz="1300" b="1" dirty="0">
                          <a:solidFill>
                            <a:srgbClr val="3E4A57"/>
                          </a:solidFill>
                          <a:latin typeface="Arial" pitchFamily="34" charset="0"/>
                          <a:ea typeface="Arial" pitchFamily="34" charset="-122"/>
                          <a:cs typeface="Arial" pitchFamily="34" charset="-120"/>
                        </a:rPr>
                        <a:t>Hallazgo</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820"/>
                        </a:lnSpc>
                        <a:buNone/>
                      </a:pPr>
                      <a:r>
                        <a:rPr lang="en-US" sz="1300" b="1" dirty="0">
                          <a:solidFill>
                            <a:srgbClr val="3E4A57"/>
                          </a:solidFill>
                          <a:latin typeface="Arial" pitchFamily="34" charset="0"/>
                          <a:ea typeface="Arial" pitchFamily="34" charset="-122"/>
                          <a:cs typeface="Arial" pitchFamily="34" charset="-120"/>
                        </a:rPr>
                        <a:t>Dato</a:t>
                      </a:r>
                      <a:endParaRPr lang="en-US" sz="1300" dirty="0">
                        <a:latin typeface="Arial" charset="0"/>
                        <a:ea typeface="Arial" charset="0"/>
                        <a:cs typeface="Arial" charset="0"/>
                      </a:endParaRPr>
                    </a:p>
                  </a:txBody>
                  <a:tcPr marL="57785" marR="57785" marT="57785" marB="5778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820"/>
                        </a:lnSpc>
                        <a:buNone/>
                      </a:pPr>
                      <a:r>
                        <a:rPr lang="en-US" sz="1300" b="1" dirty="0">
                          <a:solidFill>
                            <a:srgbClr val="3E4A57"/>
                          </a:solidFill>
                          <a:latin typeface="Arial" pitchFamily="34" charset="0"/>
                          <a:ea typeface="Arial" pitchFamily="34" charset="-122"/>
                          <a:cs typeface="Arial" pitchFamily="34" charset="-120"/>
                        </a:rPr>
                        <a:t>Decisión en el modelo</a:t>
                      </a:r>
                      <a:endParaRPr lang="en-US" sz="1300" dirty="0">
                        <a:latin typeface="Arial" charset="0"/>
                        <a:ea typeface="Arial" charset="0"/>
                        <a:cs typeface="Arial" charset="0"/>
                      </a:endParaRPr>
                    </a:p>
                  </a:txBody>
                  <a:tcPr marL="57785" marR="57785" marT="57785" marB="5778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588010">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Período</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830 órdenes, 2.155 líneas (jul-2016 a may-2018)</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DimTiempo 2016–2018; comparar períodos equivalentes</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356870">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Sin envío</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21 órdenes sin FechaEnvio</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Miembro especial −1 “Sin fecha”</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356870">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Precio histórico</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658 líneas con precio distinto al de lista</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Montos con el precio de DetalleOrden</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356870">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País de envío</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Igual al país del </a:t>
                      </a:r>
                      <a:r>
                        <a:rPr lang="en-US" sz="1300" dirty="0" err="1">
                          <a:solidFill>
                            <a:srgbClr val="3E4A57"/>
                          </a:solidFill>
                          <a:latin typeface="Arial" pitchFamily="34" charset="0"/>
                          <a:ea typeface="Arial" pitchFamily="34" charset="-122"/>
                          <a:cs typeface="Arial" pitchFamily="34" charset="-120"/>
                        </a:rPr>
                        <a:t>cliente</a:t>
                      </a:r>
                      <a:r>
                        <a:rPr lang="en-US" sz="1300" dirty="0">
                          <a:solidFill>
                            <a:srgbClr val="3E4A57"/>
                          </a:solidFill>
                          <a:latin typeface="Arial" pitchFamily="34" charset="0"/>
                          <a:ea typeface="Arial" pitchFamily="34" charset="-122"/>
                          <a:cs typeface="Arial" pitchFamily="34" charset="-120"/>
                        </a:rPr>
                        <a:t> en el 100 %</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Sin dimensión de destino</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356870">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Integridad</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0 huérfanos, 0 duplicados</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FK sin filas “desconocido”</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r h="356870">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Costos</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No hay costo de </a:t>
                      </a:r>
                      <a:r>
                        <a:rPr lang="en-US" sz="1300" dirty="0" err="1">
                          <a:solidFill>
                            <a:srgbClr val="3E4A57"/>
                          </a:solidFill>
                          <a:latin typeface="Arial" pitchFamily="34" charset="0"/>
                          <a:ea typeface="Arial" pitchFamily="34" charset="-122"/>
                          <a:cs typeface="Arial" pitchFamily="34" charset="-120"/>
                        </a:rPr>
                        <a:t>producto</a:t>
                      </a:r>
                      <a:r>
                        <a:rPr lang="en-US" sz="1300" dirty="0">
                          <a:solidFill>
                            <a:srgbClr val="3E4A57"/>
                          </a:solidFill>
                          <a:latin typeface="Arial" pitchFamily="34" charset="0"/>
                          <a:ea typeface="Arial" pitchFamily="34" charset="-122"/>
                          <a:cs typeface="Arial" pitchFamily="34" charset="-120"/>
                        </a:rPr>
                        <a:t> ni flete</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820"/>
                        </a:lnSpc>
                        <a:buNone/>
                      </a:pPr>
                      <a:r>
                        <a:rPr lang="en-US" sz="1300" dirty="0">
                          <a:solidFill>
                            <a:srgbClr val="3E4A57"/>
                          </a:solidFill>
                          <a:latin typeface="Arial" pitchFamily="34" charset="0"/>
                          <a:ea typeface="Arial" pitchFamily="34" charset="-122"/>
                          <a:cs typeface="Arial" pitchFamily="34" charset="-120"/>
                        </a:rPr>
                        <a:t>No se mide margen</a:t>
                      </a:r>
                      <a:endParaRPr lang="en-US" sz="1300" dirty="0">
                        <a:latin typeface="Arial" charset="0"/>
                        <a:ea typeface="Arial" charset="0"/>
                        <a:cs typeface="Arial" charset="0"/>
                      </a:endParaRPr>
                    </a:p>
                  </a:txBody>
                  <a:tcPr marL="57785" marR="57785" marT="57785" marB="5778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p:nvPr/>
        </p:nvSpPr>
        <p:spPr>
          <a:xfrm>
            <a:off x="812800" y="6238241"/>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1"/>
                </a:solidFill>
                <a:latin typeface="Arial" pitchFamily="34" charset="0"/>
                <a:ea typeface="Arial" pitchFamily="34" charset="-122"/>
                <a:cs typeface="Arial"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BE4"/>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A0521A"/>
                </a:solidFill>
                <a:latin typeface="Arial" pitchFamily="34" charset="0"/>
                <a:ea typeface="Arial" pitchFamily="34" charset="-122"/>
                <a:cs typeface="Arial" pitchFamily="34" charset="-120"/>
              </a:rPr>
              <a:t>KPI</a:t>
            </a:r>
            <a:endParaRPr lang="en-US" sz="1200" dirty="0"/>
          </a:p>
        </p:txBody>
      </p:sp>
      <p:sp>
        <p:nvSpPr>
          <p:cNvPr id="3" name="Text 1"/>
          <p:cNvSpPr>
            <a:spLocks noGrp="1"/>
          </p:cNvSpPr>
          <p:nvPr>
            <p:ph type="title"/>
          </p:nvPr>
        </p:nvSpPr>
        <p:spPr>
          <a:xfrm>
            <a:off x="812800" y="1127761"/>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Seis indicadores y cómo se calculan</a:t>
            </a:r>
            <a:endParaRPr lang="en-US" sz="3200" dirty="0"/>
          </a:p>
        </p:txBody>
      </p:sp>
      <p:sp>
        <p:nvSpPr>
          <p:cNvPr id="28" name="Text 26"/>
          <p:cNvSpPr/>
          <p:nvPr/>
        </p:nvSpPr>
        <p:spPr>
          <a:xfrm>
            <a:off x="812800" y="6238239"/>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1"/>
                </a:solidFill>
                <a:latin typeface="Arial" pitchFamily="34" charset="0"/>
                <a:ea typeface="Arial" pitchFamily="34" charset="-122"/>
                <a:cs typeface="Arial" pitchFamily="34" charset="-120"/>
              </a:rPr>
              <a:t>4</a:t>
            </a:r>
            <a:endParaRPr lang="en-US" sz="1200" dirty="0"/>
          </a:p>
        </p:txBody>
      </p:sp>
      <p:sp>
        <p:nvSpPr>
          <p:cNvPr id="29" name="Rectangle 28"/>
          <p:cNvSpPr/>
          <p:nvPr/>
        </p:nvSpPr>
        <p:spPr>
          <a:xfrm>
            <a:off x="813816" y="1874519"/>
            <a:ext cx="10561320" cy="530352"/>
          </a:xfrm>
          <a:prstGeom prst="rect">
            <a:avLst/>
          </a:prstGeom>
          <a:solidFill>
            <a:srgbClr val="EDEB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96696" y="2011679"/>
            <a:ext cx="2651760" cy="365760"/>
          </a:xfrm>
          <a:prstGeom prst="rect">
            <a:avLst/>
          </a:prstGeom>
          <a:noFill/>
        </p:spPr>
        <p:txBody>
          <a:bodyPr wrap="square" lIns="0" tIns="0" rIns="0" bIns="0">
            <a:spAutoFit/>
          </a:bodyPr>
          <a:lstStyle/>
          <a:p>
            <a:pPr algn="l">
              <a:lnSpc>
                <a:spcPct val="115000"/>
              </a:lnSpc>
              <a:spcAft>
                <a:spcPts val="600"/>
              </a:spcAft>
            </a:pPr>
            <a:r>
              <a:rPr sz="1500" b="1">
                <a:solidFill>
                  <a:srgbClr val="1B2A3A"/>
                </a:solidFill>
                <a:latin typeface="Arial"/>
              </a:rPr>
              <a:t>Ventas netas</a:t>
            </a:r>
          </a:p>
        </p:txBody>
      </p:sp>
      <p:sp>
        <p:nvSpPr>
          <p:cNvPr id="31" name="TextBox 30"/>
          <p:cNvSpPr txBox="1"/>
          <p:nvPr/>
        </p:nvSpPr>
        <p:spPr>
          <a:xfrm>
            <a:off x="3739896" y="2020824"/>
            <a:ext cx="5120640" cy="365760"/>
          </a:xfrm>
          <a:prstGeom prst="rect">
            <a:avLst/>
          </a:prstGeom>
          <a:noFill/>
        </p:spPr>
        <p:txBody>
          <a:bodyPr wrap="square" lIns="0" tIns="0" rIns="0" bIns="0">
            <a:spAutoFit/>
          </a:bodyPr>
          <a:lstStyle/>
          <a:p>
            <a:pPr algn="l">
              <a:lnSpc>
                <a:spcPct val="115000"/>
              </a:lnSpc>
              <a:spcAft>
                <a:spcPts val="600"/>
              </a:spcAft>
            </a:pPr>
            <a:r>
              <a:rPr sz="1300" b="0">
                <a:solidFill>
                  <a:srgbClr val="A0521A"/>
                </a:solidFill>
                <a:latin typeface="Consolas"/>
              </a:rPr>
              <a:t>SUM(MontoNeto)</a:t>
            </a:r>
          </a:p>
        </p:txBody>
      </p:sp>
      <p:sp>
        <p:nvSpPr>
          <p:cNvPr id="32" name="TextBox 31"/>
          <p:cNvSpPr txBox="1"/>
          <p:nvPr/>
        </p:nvSpPr>
        <p:spPr>
          <a:xfrm>
            <a:off x="8951976" y="2011679"/>
            <a:ext cx="2286000" cy="365760"/>
          </a:xfrm>
          <a:prstGeom prst="rect">
            <a:avLst/>
          </a:prstGeom>
          <a:noFill/>
        </p:spPr>
        <p:txBody>
          <a:bodyPr wrap="square" lIns="0" tIns="0" rIns="0" bIns="0">
            <a:spAutoFit/>
          </a:bodyPr>
          <a:lstStyle/>
          <a:p>
            <a:pPr algn="l">
              <a:lnSpc>
                <a:spcPct val="115000"/>
              </a:lnSpc>
              <a:spcAft>
                <a:spcPts val="600"/>
              </a:spcAft>
            </a:pPr>
            <a:r>
              <a:rPr sz="1500" b="1">
                <a:solidFill>
                  <a:srgbClr val="1B2A3A"/>
                </a:solidFill>
                <a:latin typeface="Arial"/>
              </a:rPr>
              <a:t>$1,27 M (+120,7 %)</a:t>
            </a:r>
          </a:p>
        </p:txBody>
      </p:sp>
      <p:sp>
        <p:nvSpPr>
          <p:cNvPr id="33" name="Rectangle 32"/>
          <p:cNvSpPr/>
          <p:nvPr/>
        </p:nvSpPr>
        <p:spPr>
          <a:xfrm>
            <a:off x="813816" y="2478024"/>
            <a:ext cx="10561320" cy="530352"/>
          </a:xfrm>
          <a:prstGeom prst="rect">
            <a:avLst/>
          </a:prstGeom>
          <a:solidFill>
            <a:srgbClr val="EDEB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96696" y="2615184"/>
            <a:ext cx="2651760" cy="365760"/>
          </a:xfrm>
          <a:prstGeom prst="rect">
            <a:avLst/>
          </a:prstGeom>
          <a:noFill/>
        </p:spPr>
        <p:txBody>
          <a:bodyPr wrap="square" lIns="0" tIns="0" rIns="0" bIns="0">
            <a:spAutoFit/>
          </a:bodyPr>
          <a:lstStyle/>
          <a:p>
            <a:pPr algn="l">
              <a:lnSpc>
                <a:spcPct val="115000"/>
              </a:lnSpc>
              <a:spcAft>
                <a:spcPts val="600"/>
              </a:spcAft>
            </a:pPr>
            <a:r>
              <a:rPr sz="1500" b="1">
                <a:solidFill>
                  <a:srgbClr val="1B2A3A"/>
                </a:solidFill>
                <a:latin typeface="Arial"/>
              </a:rPr>
              <a:t>Ticket promedio</a:t>
            </a:r>
          </a:p>
        </p:txBody>
      </p:sp>
      <p:sp>
        <p:nvSpPr>
          <p:cNvPr id="35" name="TextBox 34"/>
          <p:cNvSpPr txBox="1"/>
          <p:nvPr/>
        </p:nvSpPr>
        <p:spPr>
          <a:xfrm>
            <a:off x="3739896" y="2624328"/>
            <a:ext cx="5120640" cy="365760"/>
          </a:xfrm>
          <a:prstGeom prst="rect">
            <a:avLst/>
          </a:prstGeom>
          <a:noFill/>
        </p:spPr>
        <p:txBody>
          <a:bodyPr wrap="square" lIns="0" tIns="0" rIns="0" bIns="0">
            <a:spAutoFit/>
          </a:bodyPr>
          <a:lstStyle/>
          <a:p>
            <a:pPr algn="l">
              <a:lnSpc>
                <a:spcPct val="115000"/>
              </a:lnSpc>
              <a:spcAft>
                <a:spcPts val="600"/>
              </a:spcAft>
            </a:pPr>
            <a:r>
              <a:rPr sz="1300" b="0">
                <a:solidFill>
                  <a:srgbClr val="A0521A"/>
                </a:solidFill>
                <a:latin typeface="Consolas"/>
              </a:rPr>
              <a:t>SUM(MontoNeto) / COUNT(DISTINCT OrdenID)</a:t>
            </a:r>
          </a:p>
        </p:txBody>
      </p:sp>
      <p:sp>
        <p:nvSpPr>
          <p:cNvPr id="36" name="TextBox 35"/>
          <p:cNvSpPr txBox="1"/>
          <p:nvPr/>
        </p:nvSpPr>
        <p:spPr>
          <a:xfrm>
            <a:off x="8951976" y="2615184"/>
            <a:ext cx="2286000" cy="365760"/>
          </a:xfrm>
          <a:prstGeom prst="rect">
            <a:avLst/>
          </a:prstGeom>
          <a:noFill/>
        </p:spPr>
        <p:txBody>
          <a:bodyPr wrap="square" lIns="0" tIns="0" rIns="0" bIns="0">
            <a:spAutoFit/>
          </a:bodyPr>
          <a:lstStyle/>
          <a:p>
            <a:pPr algn="l">
              <a:lnSpc>
                <a:spcPct val="115000"/>
              </a:lnSpc>
              <a:spcAft>
                <a:spcPts val="600"/>
              </a:spcAft>
            </a:pPr>
            <a:r>
              <a:rPr sz="1500" b="1">
                <a:solidFill>
                  <a:srgbClr val="1B2A3A"/>
                </a:solidFill>
                <a:latin typeface="Arial"/>
              </a:rPr>
              <a:t>$1.525</a:t>
            </a:r>
          </a:p>
        </p:txBody>
      </p:sp>
      <p:sp>
        <p:nvSpPr>
          <p:cNvPr id="37" name="Rectangle 36"/>
          <p:cNvSpPr/>
          <p:nvPr/>
        </p:nvSpPr>
        <p:spPr>
          <a:xfrm>
            <a:off x="813816" y="3081528"/>
            <a:ext cx="10561320" cy="530352"/>
          </a:xfrm>
          <a:prstGeom prst="rect">
            <a:avLst/>
          </a:prstGeom>
          <a:solidFill>
            <a:srgbClr val="EDEB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96696" y="3218688"/>
            <a:ext cx="2651760" cy="365760"/>
          </a:xfrm>
          <a:prstGeom prst="rect">
            <a:avLst/>
          </a:prstGeom>
          <a:noFill/>
        </p:spPr>
        <p:txBody>
          <a:bodyPr wrap="square" lIns="0" tIns="0" rIns="0" bIns="0">
            <a:spAutoFit/>
          </a:bodyPr>
          <a:lstStyle/>
          <a:p>
            <a:pPr algn="l">
              <a:lnSpc>
                <a:spcPct val="115000"/>
              </a:lnSpc>
              <a:spcAft>
                <a:spcPts val="600"/>
              </a:spcAft>
            </a:pPr>
            <a:r>
              <a:rPr sz="1500" b="1">
                <a:solidFill>
                  <a:srgbClr val="1B2A3A"/>
                </a:solidFill>
                <a:latin typeface="Arial"/>
              </a:rPr>
              <a:t>% de descuento</a:t>
            </a:r>
          </a:p>
        </p:txBody>
      </p:sp>
      <p:sp>
        <p:nvSpPr>
          <p:cNvPr id="39" name="TextBox 38"/>
          <p:cNvSpPr txBox="1"/>
          <p:nvPr/>
        </p:nvSpPr>
        <p:spPr>
          <a:xfrm>
            <a:off x="3739896" y="3227832"/>
            <a:ext cx="5120640" cy="365760"/>
          </a:xfrm>
          <a:prstGeom prst="rect">
            <a:avLst/>
          </a:prstGeom>
          <a:noFill/>
        </p:spPr>
        <p:txBody>
          <a:bodyPr wrap="square" lIns="0" tIns="0" rIns="0" bIns="0">
            <a:spAutoFit/>
          </a:bodyPr>
          <a:lstStyle/>
          <a:p>
            <a:pPr algn="l">
              <a:lnSpc>
                <a:spcPct val="115000"/>
              </a:lnSpc>
              <a:spcAft>
                <a:spcPts val="600"/>
              </a:spcAft>
            </a:pPr>
            <a:r>
              <a:rPr sz="1300" b="0">
                <a:solidFill>
                  <a:srgbClr val="A0521A"/>
                </a:solidFill>
                <a:latin typeface="Consolas"/>
              </a:rPr>
              <a:t>SUM(MontoDescuento) / SUM(MontoBruto)</a:t>
            </a:r>
          </a:p>
        </p:txBody>
      </p:sp>
      <p:sp>
        <p:nvSpPr>
          <p:cNvPr id="40" name="TextBox 39"/>
          <p:cNvSpPr txBox="1"/>
          <p:nvPr/>
        </p:nvSpPr>
        <p:spPr>
          <a:xfrm>
            <a:off x="8951976" y="3218688"/>
            <a:ext cx="2286000" cy="365760"/>
          </a:xfrm>
          <a:prstGeom prst="rect">
            <a:avLst/>
          </a:prstGeom>
          <a:noFill/>
        </p:spPr>
        <p:txBody>
          <a:bodyPr wrap="square" lIns="0" tIns="0" rIns="0" bIns="0">
            <a:spAutoFit/>
          </a:bodyPr>
          <a:lstStyle/>
          <a:p>
            <a:pPr algn="l">
              <a:lnSpc>
                <a:spcPct val="115000"/>
              </a:lnSpc>
              <a:spcAft>
                <a:spcPts val="600"/>
              </a:spcAft>
            </a:pPr>
            <a:r>
              <a:rPr sz="1500" b="1">
                <a:solidFill>
                  <a:srgbClr val="1B2A3A"/>
                </a:solidFill>
                <a:latin typeface="Arial"/>
              </a:rPr>
              <a:t>6,55 %</a:t>
            </a:r>
          </a:p>
        </p:txBody>
      </p:sp>
      <p:sp>
        <p:nvSpPr>
          <p:cNvPr id="41" name="Rectangle 40"/>
          <p:cNvSpPr/>
          <p:nvPr/>
        </p:nvSpPr>
        <p:spPr>
          <a:xfrm>
            <a:off x="813816" y="3685032"/>
            <a:ext cx="10561320" cy="530352"/>
          </a:xfrm>
          <a:prstGeom prst="rect">
            <a:avLst/>
          </a:prstGeom>
          <a:solidFill>
            <a:srgbClr val="EDEB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96696" y="3822192"/>
            <a:ext cx="2651760" cy="365760"/>
          </a:xfrm>
          <a:prstGeom prst="rect">
            <a:avLst/>
          </a:prstGeom>
          <a:noFill/>
        </p:spPr>
        <p:txBody>
          <a:bodyPr wrap="square" lIns="0" tIns="0" rIns="0" bIns="0">
            <a:spAutoFit/>
          </a:bodyPr>
          <a:lstStyle/>
          <a:p>
            <a:pPr algn="l">
              <a:lnSpc>
                <a:spcPct val="115000"/>
              </a:lnSpc>
              <a:spcAft>
                <a:spcPts val="600"/>
              </a:spcAft>
            </a:pPr>
            <a:r>
              <a:rPr sz="1500" b="1">
                <a:solidFill>
                  <a:srgbClr val="1B2A3A"/>
                </a:solidFill>
                <a:latin typeface="Arial"/>
              </a:rPr>
              <a:t>Ventas por empleado</a:t>
            </a:r>
          </a:p>
        </p:txBody>
      </p:sp>
      <p:sp>
        <p:nvSpPr>
          <p:cNvPr id="43" name="TextBox 42"/>
          <p:cNvSpPr txBox="1"/>
          <p:nvPr/>
        </p:nvSpPr>
        <p:spPr>
          <a:xfrm>
            <a:off x="3739896" y="3831336"/>
            <a:ext cx="5120640" cy="365760"/>
          </a:xfrm>
          <a:prstGeom prst="rect">
            <a:avLst/>
          </a:prstGeom>
          <a:noFill/>
        </p:spPr>
        <p:txBody>
          <a:bodyPr wrap="square" lIns="0" tIns="0" rIns="0" bIns="0">
            <a:spAutoFit/>
          </a:bodyPr>
          <a:lstStyle/>
          <a:p>
            <a:pPr algn="l">
              <a:lnSpc>
                <a:spcPct val="115000"/>
              </a:lnSpc>
              <a:spcAft>
                <a:spcPts val="600"/>
              </a:spcAft>
            </a:pPr>
            <a:r>
              <a:rPr sz="1300" b="0">
                <a:solidFill>
                  <a:srgbClr val="A0521A"/>
                </a:solidFill>
                <a:latin typeface="Consolas"/>
              </a:rPr>
              <a:t>SUM(MontoNeto) ... GROUP BY Empleado</a:t>
            </a:r>
          </a:p>
        </p:txBody>
      </p:sp>
      <p:sp>
        <p:nvSpPr>
          <p:cNvPr id="44" name="TextBox 43"/>
          <p:cNvSpPr txBox="1"/>
          <p:nvPr/>
        </p:nvSpPr>
        <p:spPr>
          <a:xfrm>
            <a:off x="8951976" y="3822192"/>
            <a:ext cx="2286000" cy="365760"/>
          </a:xfrm>
          <a:prstGeom prst="rect">
            <a:avLst/>
          </a:prstGeom>
          <a:noFill/>
        </p:spPr>
        <p:txBody>
          <a:bodyPr wrap="square" lIns="0" tIns="0" rIns="0" bIns="0">
            <a:spAutoFit/>
          </a:bodyPr>
          <a:lstStyle/>
          <a:p>
            <a:pPr algn="l">
              <a:lnSpc>
                <a:spcPct val="115000"/>
              </a:lnSpc>
              <a:spcAft>
                <a:spcPts val="600"/>
              </a:spcAft>
            </a:pPr>
            <a:r>
              <a:rPr sz="1500" b="1">
                <a:solidFill>
                  <a:srgbClr val="1B2A3A"/>
                </a:solidFill>
                <a:latin typeface="Arial"/>
              </a:rPr>
              <a:t>9 vendedores</a:t>
            </a:r>
          </a:p>
        </p:txBody>
      </p:sp>
      <p:sp>
        <p:nvSpPr>
          <p:cNvPr id="45" name="Rectangle 44"/>
          <p:cNvSpPr/>
          <p:nvPr/>
        </p:nvSpPr>
        <p:spPr>
          <a:xfrm>
            <a:off x="813816" y="4288536"/>
            <a:ext cx="10561320" cy="530352"/>
          </a:xfrm>
          <a:prstGeom prst="rect">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96696" y="4425696"/>
            <a:ext cx="2651760" cy="365760"/>
          </a:xfrm>
          <a:prstGeom prst="rect">
            <a:avLst/>
          </a:prstGeom>
          <a:noFill/>
        </p:spPr>
        <p:txBody>
          <a:bodyPr wrap="square" lIns="0" tIns="0" rIns="0" bIns="0">
            <a:spAutoFit/>
          </a:bodyPr>
          <a:lstStyle/>
          <a:p>
            <a:pPr algn="l">
              <a:lnSpc>
                <a:spcPct val="115000"/>
              </a:lnSpc>
              <a:spcAft>
                <a:spcPts val="600"/>
              </a:spcAft>
            </a:pPr>
            <a:r>
              <a:rPr sz="1500" b="1">
                <a:solidFill>
                  <a:srgbClr val="F7F6F2"/>
                </a:solidFill>
                <a:latin typeface="Arial"/>
              </a:rPr>
              <a:t>Tiempo de despacho</a:t>
            </a:r>
          </a:p>
        </p:txBody>
      </p:sp>
      <p:sp>
        <p:nvSpPr>
          <p:cNvPr id="47" name="TextBox 46"/>
          <p:cNvSpPr txBox="1"/>
          <p:nvPr/>
        </p:nvSpPr>
        <p:spPr>
          <a:xfrm>
            <a:off x="3739896" y="4434840"/>
            <a:ext cx="5120640" cy="365760"/>
          </a:xfrm>
          <a:prstGeom prst="rect">
            <a:avLst/>
          </a:prstGeom>
          <a:noFill/>
        </p:spPr>
        <p:txBody>
          <a:bodyPr wrap="square" lIns="0" tIns="0" rIns="0" bIns="0">
            <a:spAutoFit/>
          </a:bodyPr>
          <a:lstStyle/>
          <a:p>
            <a:pPr algn="l">
              <a:lnSpc>
                <a:spcPct val="115000"/>
              </a:lnSpc>
              <a:spcAft>
                <a:spcPts val="600"/>
              </a:spcAft>
            </a:pPr>
            <a:r>
              <a:rPr sz="1300" b="0">
                <a:solidFill>
                  <a:srgbClr val="E8A35A"/>
                </a:solidFill>
                <a:latin typeface="Consolas"/>
              </a:rPr>
              <a:t>AVG(DiasDespacho) por orden enviada</a:t>
            </a:r>
          </a:p>
        </p:txBody>
      </p:sp>
      <p:sp>
        <p:nvSpPr>
          <p:cNvPr id="48" name="TextBox 47"/>
          <p:cNvSpPr txBox="1"/>
          <p:nvPr/>
        </p:nvSpPr>
        <p:spPr>
          <a:xfrm>
            <a:off x="8951976" y="4425696"/>
            <a:ext cx="2286000" cy="365760"/>
          </a:xfrm>
          <a:prstGeom prst="rect">
            <a:avLst/>
          </a:prstGeom>
          <a:noFill/>
        </p:spPr>
        <p:txBody>
          <a:bodyPr wrap="square" lIns="0" tIns="0" rIns="0" bIns="0">
            <a:spAutoFit/>
          </a:bodyPr>
          <a:lstStyle/>
          <a:p>
            <a:pPr algn="l">
              <a:lnSpc>
                <a:spcPct val="115000"/>
              </a:lnSpc>
              <a:spcAft>
                <a:spcPts val="600"/>
              </a:spcAft>
            </a:pPr>
            <a:r>
              <a:rPr sz="1500" b="1">
                <a:solidFill>
                  <a:srgbClr val="E8A35A"/>
                </a:solidFill>
                <a:latin typeface="Arial"/>
              </a:rPr>
              <a:t>8,5 días</a:t>
            </a:r>
          </a:p>
        </p:txBody>
      </p:sp>
      <p:sp>
        <p:nvSpPr>
          <p:cNvPr id="49" name="Rectangle 48"/>
          <p:cNvSpPr/>
          <p:nvPr/>
        </p:nvSpPr>
        <p:spPr>
          <a:xfrm>
            <a:off x="813816" y="4892040"/>
            <a:ext cx="10561320" cy="530352"/>
          </a:xfrm>
          <a:prstGeom prst="rect">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96696" y="5029200"/>
            <a:ext cx="2651760" cy="365760"/>
          </a:xfrm>
          <a:prstGeom prst="rect">
            <a:avLst/>
          </a:prstGeom>
          <a:noFill/>
        </p:spPr>
        <p:txBody>
          <a:bodyPr wrap="square" lIns="0" tIns="0" rIns="0" bIns="0">
            <a:spAutoFit/>
          </a:bodyPr>
          <a:lstStyle/>
          <a:p>
            <a:pPr algn="l">
              <a:lnSpc>
                <a:spcPct val="115000"/>
              </a:lnSpc>
              <a:spcAft>
                <a:spcPts val="600"/>
              </a:spcAft>
            </a:pPr>
            <a:r>
              <a:rPr sz="1500" b="1">
                <a:solidFill>
                  <a:srgbClr val="F7F6F2"/>
                </a:solidFill>
                <a:latin typeface="Arial"/>
              </a:rPr>
              <a:t>% órdenes pendientes</a:t>
            </a:r>
          </a:p>
        </p:txBody>
      </p:sp>
      <p:sp>
        <p:nvSpPr>
          <p:cNvPr id="51" name="TextBox 50"/>
          <p:cNvSpPr txBox="1"/>
          <p:nvPr/>
        </p:nvSpPr>
        <p:spPr>
          <a:xfrm>
            <a:off x="3739896" y="5038344"/>
            <a:ext cx="5120640" cy="365760"/>
          </a:xfrm>
          <a:prstGeom prst="rect">
            <a:avLst/>
          </a:prstGeom>
          <a:noFill/>
        </p:spPr>
        <p:txBody>
          <a:bodyPr wrap="square" lIns="0" tIns="0" rIns="0" bIns="0">
            <a:spAutoFit/>
          </a:bodyPr>
          <a:lstStyle/>
          <a:p>
            <a:pPr algn="l">
              <a:lnSpc>
                <a:spcPct val="115000"/>
              </a:lnSpc>
              <a:spcAft>
                <a:spcPts val="600"/>
              </a:spcAft>
            </a:pPr>
            <a:r>
              <a:rPr sz="1300" b="0">
                <a:solidFill>
                  <a:srgbClr val="E8A35A"/>
                </a:solidFill>
                <a:latin typeface="Consolas"/>
              </a:rPr>
              <a:t>órdenes con FechaEnvioKey = -1 / total</a:t>
            </a:r>
          </a:p>
        </p:txBody>
      </p:sp>
      <p:sp>
        <p:nvSpPr>
          <p:cNvPr id="52" name="TextBox 51"/>
          <p:cNvSpPr txBox="1"/>
          <p:nvPr/>
        </p:nvSpPr>
        <p:spPr>
          <a:xfrm>
            <a:off x="8951976" y="5029200"/>
            <a:ext cx="2286000" cy="365760"/>
          </a:xfrm>
          <a:prstGeom prst="rect">
            <a:avLst/>
          </a:prstGeom>
          <a:noFill/>
        </p:spPr>
        <p:txBody>
          <a:bodyPr wrap="square" lIns="0" tIns="0" rIns="0" bIns="0">
            <a:spAutoFit/>
          </a:bodyPr>
          <a:lstStyle/>
          <a:p>
            <a:pPr algn="l">
              <a:lnSpc>
                <a:spcPct val="115000"/>
              </a:lnSpc>
              <a:spcAft>
                <a:spcPts val="600"/>
              </a:spcAft>
            </a:pPr>
            <a:r>
              <a:rPr sz="1500" b="1">
                <a:solidFill>
                  <a:srgbClr val="E8A35A"/>
                </a:solidFill>
                <a:latin typeface="Arial"/>
              </a:rPr>
              <a:t>2,5 %</a:t>
            </a:r>
          </a:p>
        </p:txBody>
      </p:sp>
      <p:sp>
        <p:nvSpPr>
          <p:cNvPr id="53" name="TextBox 52"/>
          <p:cNvSpPr txBox="1"/>
          <p:nvPr/>
        </p:nvSpPr>
        <p:spPr>
          <a:xfrm>
            <a:off x="813816" y="5541264"/>
            <a:ext cx="10561320" cy="365760"/>
          </a:xfrm>
          <a:prstGeom prst="rect">
            <a:avLst/>
          </a:prstGeom>
          <a:noFill/>
        </p:spPr>
        <p:txBody>
          <a:bodyPr wrap="square" lIns="0" tIns="0" rIns="0" bIns="0">
            <a:spAutoFit/>
          </a:bodyPr>
          <a:lstStyle/>
          <a:p>
            <a:pPr algn="l">
              <a:lnSpc>
                <a:spcPct val="115000"/>
              </a:lnSpc>
              <a:spcAft>
                <a:spcPts val="600"/>
              </a:spcAft>
            </a:pPr>
            <a:r>
              <a:rPr sz="1200" b="0">
                <a:solidFill>
                  <a:srgbClr val="3E4A57"/>
                </a:solidFill>
                <a:latin typeface="Arial"/>
              </a:rPr>
              <a:t>Claros: resultado comercial · Oscuros: operación de envío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A0521A"/>
                </a:solidFill>
                <a:latin typeface="Arial" pitchFamily="34" charset="0"/>
                <a:ea typeface="Arial" pitchFamily="34" charset="-122"/>
                <a:cs typeface="Arial" pitchFamily="34" charset="-120"/>
              </a:rPr>
              <a:t>KIMBALL · PASOS 1 Y 2</a:t>
            </a:r>
            <a:endParaRPr lang="en-US" sz="1200" dirty="0"/>
          </a:p>
        </p:txBody>
      </p:sp>
      <p:sp>
        <p:nvSpPr>
          <p:cNvPr id="3" name="Text 1"/>
          <p:cNvSpPr>
            <a:spLocks noGrp="1"/>
          </p:cNvSpPr>
          <p:nvPr>
            <p:ph type="title"/>
          </p:nvPr>
        </p:nvSpPr>
        <p:spPr>
          <a:xfrm>
            <a:off x="812800" y="1127761"/>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Proceso de negocio y granularidad</a:t>
            </a:r>
            <a:endParaRPr lang="en-US" sz="3200" dirty="0"/>
          </a:p>
        </p:txBody>
      </p:sp>
      <p:sp>
        <p:nvSpPr>
          <p:cNvPr id="12" name="Text 10"/>
          <p:cNvSpPr/>
          <p:nvPr/>
        </p:nvSpPr>
        <p:spPr>
          <a:xfrm>
            <a:off x="812800" y="6238239"/>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1"/>
                </a:solidFill>
                <a:latin typeface="Arial" pitchFamily="34" charset="0"/>
                <a:ea typeface="Arial" pitchFamily="34" charset="-122"/>
                <a:cs typeface="Arial" pitchFamily="34" charset="-120"/>
              </a:rPr>
              <a:t>5</a:t>
            </a:r>
            <a:endParaRPr lang="en-US" sz="1200" dirty="0"/>
          </a:p>
        </p:txBody>
      </p:sp>
      <p:sp>
        <p:nvSpPr>
          <p:cNvPr id="13" name="TextBox 12"/>
          <p:cNvSpPr txBox="1"/>
          <p:nvPr/>
        </p:nvSpPr>
        <p:spPr>
          <a:xfrm>
            <a:off x="813816" y="1874519"/>
            <a:ext cx="5029200" cy="274320"/>
          </a:xfrm>
          <a:prstGeom prst="rect">
            <a:avLst/>
          </a:prstGeom>
          <a:noFill/>
        </p:spPr>
        <p:txBody>
          <a:bodyPr wrap="square" lIns="0" tIns="0" rIns="0" bIns="0">
            <a:spAutoFit/>
          </a:bodyPr>
          <a:lstStyle/>
          <a:p>
            <a:pPr algn="l">
              <a:lnSpc>
                <a:spcPct val="115000"/>
              </a:lnSpc>
              <a:spcAft>
                <a:spcPts val="600"/>
              </a:spcAft>
            </a:pPr>
            <a:r>
              <a:rPr sz="1200" b="1">
                <a:solidFill>
                  <a:srgbClr val="A0521A"/>
                </a:solidFill>
                <a:latin typeface="Arial"/>
              </a:rPr>
              <a:t>PASO 1 · PROCESO DE NEGOCIO</a:t>
            </a:r>
          </a:p>
        </p:txBody>
      </p:sp>
      <p:sp>
        <p:nvSpPr>
          <p:cNvPr id="14" name="TextBox 13"/>
          <p:cNvSpPr txBox="1"/>
          <p:nvPr/>
        </p:nvSpPr>
        <p:spPr>
          <a:xfrm>
            <a:off x="813816" y="2240279"/>
            <a:ext cx="4846320" cy="548640"/>
          </a:xfrm>
          <a:prstGeom prst="rect">
            <a:avLst/>
          </a:prstGeom>
          <a:noFill/>
        </p:spPr>
        <p:txBody>
          <a:bodyPr wrap="square" lIns="0" tIns="0" rIns="0" bIns="0">
            <a:spAutoFit/>
          </a:bodyPr>
          <a:lstStyle/>
          <a:p>
            <a:pPr algn="l">
              <a:lnSpc>
                <a:spcPct val="115000"/>
              </a:lnSpc>
              <a:spcAft>
                <a:spcPts val="600"/>
              </a:spcAft>
            </a:pPr>
            <a:r>
              <a:rPr sz="2800" b="1">
                <a:solidFill>
                  <a:srgbClr val="1B2A3A"/>
                </a:solidFill>
                <a:latin typeface="Georgia"/>
              </a:rPr>
              <a:t>Ventas</a:t>
            </a:r>
          </a:p>
        </p:txBody>
      </p:sp>
      <p:sp>
        <p:nvSpPr>
          <p:cNvPr id="15" name="TextBox 14"/>
          <p:cNvSpPr txBox="1"/>
          <p:nvPr/>
        </p:nvSpPr>
        <p:spPr>
          <a:xfrm>
            <a:off x="813816" y="2926079"/>
            <a:ext cx="4846320" cy="1828800"/>
          </a:xfrm>
          <a:prstGeom prst="rect">
            <a:avLst/>
          </a:prstGeom>
          <a:noFill/>
        </p:spPr>
        <p:txBody>
          <a:bodyPr wrap="square" lIns="0" tIns="0" rIns="0" bIns="0">
            <a:spAutoFit/>
          </a:bodyPr>
          <a:lstStyle/>
          <a:p>
            <a:pPr algn="l">
              <a:lnSpc>
                <a:spcPct val="115000"/>
              </a:lnSpc>
              <a:spcAft>
                <a:spcPts val="600"/>
              </a:spcAft>
            </a:pPr>
            <a:r>
              <a:rPr sz="1600" b="0">
                <a:solidFill>
                  <a:srgbClr val="3E4A57"/>
                </a:solidFill>
                <a:latin typeface="Arial"/>
              </a:rPr>
              <a:t>La toma y despacho de órdenes.</a:t>
            </a:r>
          </a:p>
          <a:p>
            <a:pPr algn="l">
              <a:lnSpc>
                <a:spcPct val="115000"/>
              </a:lnSpc>
              <a:spcAft>
                <a:spcPts val="600"/>
              </a:spcAft>
            </a:pPr>
            <a:r>
              <a:rPr sz="1600" b="0">
                <a:solidFill>
                  <a:srgbClr val="3E4A57"/>
                </a:solidFill>
                <a:latin typeface="Arial"/>
              </a:rPr>
              <a:t>Es el único proceso con hechos medibles y todos los KPI salen de él: basta una tabla de hechos.</a:t>
            </a:r>
          </a:p>
        </p:txBody>
      </p:sp>
      <p:sp>
        <p:nvSpPr>
          <p:cNvPr id="16" name="TextBox 15"/>
          <p:cNvSpPr txBox="1"/>
          <p:nvPr/>
        </p:nvSpPr>
        <p:spPr>
          <a:xfrm>
            <a:off x="6254496" y="1874519"/>
            <a:ext cx="5029200" cy="274320"/>
          </a:xfrm>
          <a:prstGeom prst="rect">
            <a:avLst/>
          </a:prstGeom>
          <a:noFill/>
        </p:spPr>
        <p:txBody>
          <a:bodyPr wrap="square" lIns="0" tIns="0" rIns="0" bIns="0">
            <a:spAutoFit/>
          </a:bodyPr>
          <a:lstStyle/>
          <a:p>
            <a:pPr algn="l">
              <a:lnSpc>
                <a:spcPct val="115000"/>
              </a:lnSpc>
              <a:spcAft>
                <a:spcPts val="600"/>
              </a:spcAft>
            </a:pPr>
            <a:r>
              <a:rPr sz="1200" b="1">
                <a:solidFill>
                  <a:srgbClr val="A0521A"/>
                </a:solidFill>
                <a:latin typeface="Arial"/>
              </a:rPr>
              <a:t>PASO 2 · GRANULARIDAD</a:t>
            </a:r>
          </a:p>
        </p:txBody>
      </p:sp>
      <p:sp>
        <p:nvSpPr>
          <p:cNvPr id="17" name="TextBox 16"/>
          <p:cNvSpPr txBox="1"/>
          <p:nvPr/>
        </p:nvSpPr>
        <p:spPr>
          <a:xfrm>
            <a:off x="6254496" y="2240279"/>
            <a:ext cx="5120640" cy="548640"/>
          </a:xfrm>
          <a:prstGeom prst="rect">
            <a:avLst/>
          </a:prstGeom>
          <a:noFill/>
        </p:spPr>
        <p:txBody>
          <a:bodyPr wrap="square" lIns="0" tIns="0" rIns="0" bIns="0">
            <a:spAutoFit/>
          </a:bodyPr>
          <a:lstStyle/>
          <a:p>
            <a:pPr algn="l">
              <a:lnSpc>
                <a:spcPct val="115000"/>
              </a:lnSpc>
              <a:spcAft>
                <a:spcPts val="600"/>
              </a:spcAft>
            </a:pPr>
            <a:r>
              <a:rPr sz="2000" b="1">
                <a:solidFill>
                  <a:srgbClr val="1B2A3A"/>
                </a:solidFill>
                <a:latin typeface="Arial"/>
              </a:rPr>
              <a:t>Una fila por producto en una orden</a:t>
            </a:r>
          </a:p>
        </p:txBody>
      </p:sp>
      <p:sp>
        <p:nvSpPr>
          <p:cNvPr id="18" name="Rounded Rectangle 17"/>
          <p:cNvSpPr/>
          <p:nvPr/>
        </p:nvSpPr>
        <p:spPr>
          <a:xfrm>
            <a:off x="6254496" y="2926079"/>
            <a:ext cx="5120640" cy="1325880"/>
          </a:xfrm>
          <a:prstGeom prst="roundRect">
            <a:avLst>
              <a:gd name="adj" fmla="val 4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146304" rIns="201168" bIns="146304" rtlCol="0" anchor="t"/>
          <a:lstStyle/>
          <a:p>
            <a:pPr algn="l">
              <a:lnSpc>
                <a:spcPct val="110000"/>
              </a:lnSpc>
            </a:pPr>
            <a:r>
              <a:rPr sz="1300">
                <a:solidFill>
                  <a:srgbClr val="E8A35A"/>
                </a:solidFill>
                <a:latin typeface="Consolas"/>
              </a:rPr>
              <a:t>-- El grano, escrito como clave primaria</a:t>
            </a:r>
          </a:p>
          <a:p>
            <a:pPr algn="l">
              <a:lnSpc>
                <a:spcPct val="110000"/>
              </a:lnSpc>
            </a:pPr>
            <a:r>
              <a:rPr sz="1300">
                <a:solidFill>
                  <a:srgbClr val="E6E1D6"/>
                </a:solidFill>
                <a:latin typeface="Consolas"/>
              </a:rPr>
              <a:t>CONSTRAINT PK_FactVentas</a:t>
            </a:r>
          </a:p>
          <a:p>
            <a:pPr algn="l">
              <a:lnSpc>
                <a:spcPct val="110000"/>
              </a:lnSpc>
            </a:pPr>
            <a:r>
              <a:rPr sz="1300">
                <a:solidFill>
                  <a:srgbClr val="E6E1D6"/>
                </a:solidFill>
                <a:latin typeface="Consolas"/>
              </a:rPr>
              <a:t>  PRIMARY KEY (OrdenID, ProductoKey)</a:t>
            </a:r>
          </a:p>
        </p:txBody>
      </p:sp>
      <p:sp>
        <p:nvSpPr>
          <p:cNvPr id="19" name="TextBox 18"/>
          <p:cNvSpPr txBox="1"/>
          <p:nvPr/>
        </p:nvSpPr>
        <p:spPr>
          <a:xfrm>
            <a:off x="6254496" y="4434840"/>
            <a:ext cx="5120640" cy="1097280"/>
          </a:xfrm>
          <a:prstGeom prst="rect">
            <a:avLst/>
          </a:prstGeom>
          <a:noFill/>
        </p:spPr>
        <p:txBody>
          <a:bodyPr wrap="square" lIns="0" tIns="0" rIns="0" bIns="0">
            <a:spAutoFit/>
          </a:bodyPr>
          <a:lstStyle/>
          <a:p>
            <a:pPr algn="l">
              <a:lnSpc>
                <a:spcPct val="115000"/>
              </a:lnSpc>
              <a:spcAft>
                <a:spcPts val="600"/>
              </a:spcAft>
            </a:pPr>
            <a:r>
              <a:rPr sz="1500" b="0">
                <a:solidFill>
                  <a:srgbClr val="3E4A57"/>
                </a:solidFill>
                <a:latin typeface="Arial"/>
              </a:rPr>
              <a:t>1 línea de DetalleOrden = 1 fila de FactVentas (2.155).</a:t>
            </a:r>
          </a:p>
          <a:p>
            <a:pPr algn="l">
              <a:lnSpc>
                <a:spcPct val="115000"/>
              </a:lnSpc>
              <a:spcAft>
                <a:spcPts val="600"/>
              </a:spcAft>
            </a:pPr>
            <a:r>
              <a:rPr sz="1500" b="0">
                <a:solidFill>
                  <a:srgbClr val="3E4A57"/>
                </a:solidFill>
                <a:latin typeface="Arial"/>
              </a:rPr>
              <a:t>Es el nivel más fino: desde ahí se agrega a orden, cliente o mes.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A0521A"/>
                </a:solidFill>
                <a:latin typeface="Arial" pitchFamily="34" charset="0"/>
                <a:ea typeface="Arial" pitchFamily="34" charset="-122"/>
                <a:cs typeface="Arial" pitchFamily="34" charset="-120"/>
              </a:rPr>
              <a:t>KIMBALL · PASOS 3 Y 4</a:t>
            </a:r>
            <a:endParaRPr lang="en-US" sz="1200" dirty="0"/>
          </a:p>
        </p:txBody>
      </p:sp>
      <p:sp>
        <p:nvSpPr>
          <p:cNvPr id="3" name="Text 1"/>
          <p:cNvSpPr>
            <a:spLocks noGrp="1"/>
          </p:cNvSpPr>
          <p:nvPr>
            <p:ph type="title"/>
          </p:nvPr>
        </p:nvSpPr>
        <p:spPr>
          <a:xfrm>
            <a:off x="812800" y="1127761"/>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Dimensiones y medidas</a:t>
            </a:r>
            <a:endParaRPr lang="en-US" sz="3200" dirty="0"/>
          </a:p>
        </p:txBody>
      </p:sp>
      <p:sp>
        <p:nvSpPr>
          <p:cNvPr id="9" name="Text 5"/>
          <p:cNvSpPr/>
          <p:nvPr/>
        </p:nvSpPr>
        <p:spPr>
          <a:xfrm>
            <a:off x="812800" y="6238239"/>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1"/>
                </a:solidFill>
                <a:latin typeface="Arial" pitchFamily="34" charset="0"/>
                <a:ea typeface="Arial" pitchFamily="34" charset="-122"/>
                <a:cs typeface="Arial" pitchFamily="34" charset="-120"/>
              </a:rPr>
              <a:t>6</a:t>
            </a:r>
            <a:endParaRPr lang="en-US" sz="1200" dirty="0"/>
          </a:p>
        </p:txBody>
      </p:sp>
      <p:sp>
        <p:nvSpPr>
          <p:cNvPr id="10" name="Rounded Rectangle 9"/>
          <p:cNvSpPr/>
          <p:nvPr/>
        </p:nvSpPr>
        <p:spPr>
          <a:xfrm>
            <a:off x="813816" y="1874519"/>
            <a:ext cx="6309360" cy="3520440"/>
          </a:xfrm>
          <a:prstGeom prst="roundRect">
            <a:avLst>
              <a:gd name="adj" fmla="val 4000"/>
            </a:avLst>
          </a:prstGeom>
          <a:solidFill>
            <a:srgbClr val="1B2A3A"/>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146304" rIns="201168" bIns="146304" rtlCol="0" anchor="t"/>
          <a:lstStyle/>
          <a:p>
            <a:pPr algn="l">
              <a:lnSpc>
                <a:spcPct val="110000"/>
              </a:lnSpc>
            </a:pPr>
            <a:r>
              <a:rPr sz="1300">
                <a:solidFill>
                  <a:srgbClr val="E8A35A"/>
                </a:solidFill>
                <a:latin typeface="Consolas"/>
              </a:rPr>
              <a:t>-- FactVentas (resumen de columnas)</a:t>
            </a:r>
          </a:p>
          <a:p>
            <a:pPr algn="l">
              <a:lnSpc>
                <a:spcPct val="110000"/>
              </a:lnSpc>
            </a:pPr>
            <a:r>
              <a:rPr sz="1300">
                <a:solidFill>
                  <a:srgbClr val="E6E1D6"/>
                </a:solidFill>
                <a:latin typeface="Consolas"/>
              </a:rPr>
              <a:t>OrdenID           </a:t>
            </a:r>
            <a:r>
              <a:rPr sz="1300">
                <a:solidFill>
                  <a:srgbClr val="E8A35A"/>
                </a:solidFill>
                <a:latin typeface="Consolas"/>
              </a:rPr>
              <a:t>-- dimensión degenerada</a:t>
            </a:r>
          </a:p>
          <a:p>
            <a:pPr algn="l">
              <a:lnSpc>
                <a:spcPct val="110000"/>
              </a:lnSpc>
            </a:pPr>
            <a:r>
              <a:rPr sz="1300">
                <a:solidFill>
                  <a:srgbClr val="E6E1D6"/>
                </a:solidFill>
                <a:latin typeface="Consolas"/>
              </a:rPr>
              <a:t>ProductoKey       </a:t>
            </a:r>
            <a:r>
              <a:rPr sz="1300">
                <a:solidFill>
                  <a:srgbClr val="E8A35A"/>
                </a:solidFill>
                <a:latin typeface="Consolas"/>
              </a:rPr>
              <a:t>-- → DimProducto</a:t>
            </a:r>
          </a:p>
          <a:p>
            <a:pPr algn="l">
              <a:lnSpc>
                <a:spcPct val="110000"/>
              </a:lnSpc>
            </a:pPr>
            <a:r>
              <a:rPr sz="1300">
                <a:solidFill>
                  <a:srgbClr val="E6E1D6"/>
                </a:solidFill>
                <a:latin typeface="Consolas"/>
              </a:rPr>
              <a:t>ClienteKey        </a:t>
            </a:r>
            <a:r>
              <a:rPr sz="1300">
                <a:solidFill>
                  <a:srgbClr val="E8A35A"/>
                </a:solidFill>
                <a:latin typeface="Consolas"/>
              </a:rPr>
              <a:t>-- → DimCliente</a:t>
            </a:r>
          </a:p>
          <a:p>
            <a:pPr algn="l">
              <a:lnSpc>
                <a:spcPct val="110000"/>
              </a:lnSpc>
            </a:pPr>
            <a:r>
              <a:rPr sz="1300">
                <a:solidFill>
                  <a:srgbClr val="E6E1D6"/>
                </a:solidFill>
                <a:latin typeface="Consolas"/>
              </a:rPr>
              <a:t>EmpleadoKey       </a:t>
            </a:r>
            <a:r>
              <a:rPr sz="1300">
                <a:solidFill>
                  <a:srgbClr val="E8A35A"/>
                </a:solidFill>
                <a:latin typeface="Consolas"/>
              </a:rPr>
              <a:t>-- → DimEmpleado</a:t>
            </a:r>
          </a:p>
          <a:p>
            <a:pPr algn="l">
              <a:lnSpc>
                <a:spcPct val="110000"/>
              </a:lnSpc>
            </a:pPr>
            <a:r>
              <a:rPr sz="1300">
                <a:solidFill>
                  <a:srgbClr val="E6E1D6"/>
                </a:solidFill>
                <a:latin typeface="Consolas"/>
              </a:rPr>
              <a:t>TransportistaKey  </a:t>
            </a:r>
            <a:r>
              <a:rPr sz="1300">
                <a:solidFill>
                  <a:srgbClr val="E8A35A"/>
                </a:solidFill>
                <a:latin typeface="Consolas"/>
              </a:rPr>
              <a:t>-- → DimTransportista</a:t>
            </a:r>
          </a:p>
          <a:p>
            <a:pPr algn="l">
              <a:lnSpc>
                <a:spcPct val="110000"/>
              </a:lnSpc>
            </a:pPr>
            <a:r>
              <a:rPr sz="1300">
                <a:solidFill>
                  <a:srgbClr val="E6E1D6"/>
                </a:solidFill>
                <a:latin typeface="Consolas"/>
              </a:rPr>
              <a:t>FechaOrdenKey     </a:t>
            </a:r>
            <a:r>
              <a:rPr sz="1300">
                <a:solidFill>
                  <a:srgbClr val="E8A35A"/>
                </a:solidFill>
                <a:latin typeface="Consolas"/>
              </a:rPr>
              <a:t>-- → DimTiempo (rol 1)</a:t>
            </a:r>
          </a:p>
          <a:p>
            <a:pPr algn="l">
              <a:lnSpc>
                <a:spcPct val="110000"/>
              </a:lnSpc>
            </a:pPr>
            <a:r>
              <a:rPr sz="1300">
                <a:solidFill>
                  <a:srgbClr val="E6E1D6"/>
                </a:solidFill>
                <a:latin typeface="Consolas"/>
              </a:rPr>
              <a:t>FechaEnvioKey     </a:t>
            </a:r>
            <a:r>
              <a:rPr sz="1300">
                <a:solidFill>
                  <a:srgbClr val="E8A35A"/>
                </a:solidFill>
                <a:latin typeface="Consolas"/>
              </a:rPr>
              <a:t>-- → DimTiempo (rol 2)</a:t>
            </a:r>
          </a:p>
          <a:p>
            <a:pPr algn="l">
              <a:lnSpc>
                <a:spcPct val="110000"/>
              </a:lnSpc>
            </a:pPr>
            <a:r>
              <a:rPr sz="1300">
                <a:latin typeface="Consolas"/>
              </a:rPr>
              <a:t> </a:t>
            </a:r>
          </a:p>
          <a:p>
            <a:pPr algn="l">
              <a:lnSpc>
                <a:spcPct val="110000"/>
              </a:lnSpc>
            </a:pPr>
            <a:r>
              <a:rPr sz="1300">
                <a:solidFill>
                  <a:srgbClr val="E6E1D6"/>
                </a:solidFill>
                <a:latin typeface="Consolas"/>
              </a:rPr>
              <a:t>Cantidad, PrecioUnitario, Descuento</a:t>
            </a:r>
          </a:p>
          <a:p>
            <a:pPr algn="l">
              <a:lnSpc>
                <a:spcPct val="110000"/>
              </a:lnSpc>
            </a:pPr>
            <a:r>
              <a:rPr sz="1300">
                <a:solidFill>
                  <a:srgbClr val="E6E1D6"/>
                </a:solidFill>
                <a:latin typeface="Consolas"/>
              </a:rPr>
              <a:t>MontoBruto, MontoDescuento, MontoNeto</a:t>
            </a:r>
          </a:p>
          <a:p>
            <a:pPr algn="l">
              <a:lnSpc>
                <a:spcPct val="110000"/>
              </a:lnSpc>
            </a:pPr>
            <a:r>
              <a:rPr sz="1300">
                <a:solidFill>
                  <a:srgbClr val="E6E1D6"/>
                </a:solidFill>
                <a:latin typeface="Consolas"/>
              </a:rPr>
              <a:t>DiasDespacho</a:t>
            </a:r>
          </a:p>
        </p:txBody>
      </p:sp>
      <p:sp>
        <p:nvSpPr>
          <p:cNvPr id="11" name="TextBox 10"/>
          <p:cNvSpPr txBox="1"/>
          <p:nvPr/>
        </p:nvSpPr>
        <p:spPr>
          <a:xfrm>
            <a:off x="7397496" y="1874519"/>
            <a:ext cx="3931920" cy="274320"/>
          </a:xfrm>
          <a:prstGeom prst="rect">
            <a:avLst/>
          </a:prstGeom>
          <a:noFill/>
        </p:spPr>
        <p:txBody>
          <a:bodyPr wrap="square" lIns="0" tIns="0" rIns="0" bIns="0">
            <a:spAutoFit/>
          </a:bodyPr>
          <a:lstStyle/>
          <a:p>
            <a:pPr algn="l">
              <a:lnSpc>
                <a:spcPct val="115000"/>
              </a:lnSpc>
              <a:spcAft>
                <a:spcPts val="600"/>
              </a:spcAft>
            </a:pPr>
            <a:r>
              <a:rPr sz="1200" b="1">
                <a:solidFill>
                  <a:srgbClr val="A0521A"/>
                </a:solidFill>
                <a:latin typeface="Arial"/>
              </a:rPr>
              <a:t>PASO 3 · DIMENSIONES</a:t>
            </a:r>
          </a:p>
        </p:txBody>
      </p:sp>
      <p:sp>
        <p:nvSpPr>
          <p:cNvPr id="12" name="TextBox 11"/>
          <p:cNvSpPr txBox="1"/>
          <p:nvPr/>
        </p:nvSpPr>
        <p:spPr>
          <a:xfrm>
            <a:off x="7397496" y="2194560"/>
            <a:ext cx="3977639" cy="1645920"/>
          </a:xfrm>
          <a:prstGeom prst="rect">
            <a:avLst/>
          </a:prstGeom>
          <a:noFill/>
        </p:spPr>
        <p:txBody>
          <a:bodyPr wrap="square" lIns="0" tIns="0" rIns="0" bIns="0">
            <a:spAutoFit/>
          </a:bodyPr>
          <a:lstStyle/>
          <a:p>
            <a:pPr algn="l">
              <a:lnSpc>
                <a:spcPct val="115000"/>
              </a:lnSpc>
              <a:spcAft>
                <a:spcPts val="600"/>
              </a:spcAft>
            </a:pPr>
            <a:r>
              <a:rPr sz="1500" b="0">
                <a:solidFill>
                  <a:srgbClr val="3E4A57"/>
                </a:solidFill>
                <a:latin typeface="Arial"/>
              </a:rPr>
              <a:t>Cuándo, a quién, qué, quién vendió y quién despachó.</a:t>
            </a:r>
          </a:p>
          <a:p>
            <a:pPr algn="l">
              <a:lnSpc>
                <a:spcPct val="115000"/>
              </a:lnSpc>
              <a:spcAft>
                <a:spcPts val="600"/>
              </a:spcAft>
            </a:pPr>
            <a:r>
              <a:rPr sz="1500" b="0">
                <a:solidFill>
                  <a:srgbClr val="3E4A57"/>
                </a:solidFill>
                <a:latin typeface="Arial"/>
              </a:rPr>
              <a:t>DimTiempo se usa dos veces: fecha de orden y de envío.</a:t>
            </a:r>
          </a:p>
        </p:txBody>
      </p:sp>
      <p:sp>
        <p:nvSpPr>
          <p:cNvPr id="13" name="TextBox 12"/>
          <p:cNvSpPr txBox="1"/>
          <p:nvPr/>
        </p:nvSpPr>
        <p:spPr>
          <a:xfrm>
            <a:off x="7397496" y="3886200"/>
            <a:ext cx="3931920" cy="274320"/>
          </a:xfrm>
          <a:prstGeom prst="rect">
            <a:avLst/>
          </a:prstGeom>
          <a:noFill/>
        </p:spPr>
        <p:txBody>
          <a:bodyPr wrap="square" lIns="0" tIns="0" rIns="0" bIns="0">
            <a:spAutoFit/>
          </a:bodyPr>
          <a:lstStyle/>
          <a:p>
            <a:pPr algn="l">
              <a:lnSpc>
                <a:spcPct val="115000"/>
              </a:lnSpc>
              <a:spcAft>
                <a:spcPts val="600"/>
              </a:spcAft>
            </a:pPr>
            <a:r>
              <a:rPr sz="1200" b="1">
                <a:solidFill>
                  <a:srgbClr val="A0521A"/>
                </a:solidFill>
                <a:latin typeface="Arial"/>
              </a:rPr>
              <a:t>PASO 4 · MEDIDAS</a:t>
            </a:r>
          </a:p>
        </p:txBody>
      </p:sp>
      <p:sp>
        <p:nvSpPr>
          <p:cNvPr id="14" name="TextBox 13"/>
          <p:cNvSpPr txBox="1"/>
          <p:nvPr/>
        </p:nvSpPr>
        <p:spPr>
          <a:xfrm>
            <a:off x="7397496" y="4206240"/>
            <a:ext cx="3977639" cy="1645920"/>
          </a:xfrm>
          <a:prstGeom prst="rect">
            <a:avLst/>
          </a:prstGeom>
          <a:noFill/>
        </p:spPr>
        <p:txBody>
          <a:bodyPr wrap="square" lIns="0" tIns="0" rIns="0" bIns="0">
            <a:spAutoFit/>
          </a:bodyPr>
          <a:lstStyle/>
          <a:p>
            <a:pPr algn="l">
              <a:lnSpc>
                <a:spcPct val="115000"/>
              </a:lnSpc>
              <a:spcAft>
                <a:spcPts val="600"/>
              </a:spcAft>
            </a:pPr>
            <a:r>
              <a:rPr sz="1500" b="0">
                <a:solidFill>
                  <a:srgbClr val="3E4A57"/>
                </a:solidFill>
                <a:latin typeface="Arial"/>
              </a:rPr>
              <a:t>Se suman: cantidad y montos.</a:t>
            </a:r>
          </a:p>
          <a:p>
            <a:pPr algn="l">
              <a:lnSpc>
                <a:spcPct val="115000"/>
              </a:lnSpc>
              <a:spcAft>
                <a:spcPts val="600"/>
              </a:spcAft>
            </a:pPr>
            <a:r>
              <a:rPr sz="1500" b="0">
                <a:solidFill>
                  <a:srgbClr val="3E4A57"/>
                </a:solidFill>
                <a:latin typeface="Arial"/>
              </a:rPr>
              <a:t>Solo se promedian: precio, descuento y días de despacho.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609600"/>
            <a:ext cx="10883392" cy="432118"/>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1B2A3A"/>
                </a:solidFill>
                <a:latin typeface="Georgia" pitchFamily="18" charset="0"/>
                <a:ea typeface="Georgia" pitchFamily="18" charset="-122"/>
                <a:cs typeface="Georgia" pitchFamily="18" charset="-120"/>
              </a:rPr>
              <a:t>Modelo estrella implementado en KentFoodsDW</a:t>
            </a:r>
            <a:endParaRPr lang="en-US" sz="2800" dirty="0"/>
          </a:p>
        </p:txBody>
      </p:sp>
      <p:pic>
        <p:nvPicPr>
          <p:cNvPr id="3" name="Image 0" descr="Diagrama estrella: FactVentas al centro relacionada con DimTiempo (dos veces), DimCliente, DimProducto, DimEmpleado y DimTransportista"/>
          <p:cNvPicPr>
            <a:picLocks noChangeAspect="1"/>
          </p:cNvPicPr>
          <p:nvPr/>
        </p:nvPicPr>
        <p:blipFill>
          <a:blip r:embed="rId3"/>
          <a:srcRect l="-63669" r="-63669"/>
          <a:stretch/>
        </p:blipFill>
        <p:spPr>
          <a:xfrm>
            <a:off x="812800" y="1168719"/>
            <a:ext cx="10566400" cy="4673283"/>
          </a:xfrm>
          <a:prstGeom prst="rect">
            <a:avLst/>
          </a:prstGeom>
        </p:spPr>
      </p:pic>
      <p:sp>
        <p:nvSpPr>
          <p:cNvPr id="4" name="Text 1"/>
          <p:cNvSpPr/>
          <p:nvPr/>
        </p:nvSpPr>
        <p:spPr>
          <a:xfrm>
            <a:off x="812800" y="6238239"/>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1"/>
                </a:solidFill>
                <a:latin typeface="Arial" pitchFamily="34" charset="0"/>
                <a:ea typeface="Arial" pitchFamily="34" charset="-122"/>
                <a:cs typeface="Arial"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A0521A"/>
                </a:solidFill>
                <a:latin typeface="Arial" pitchFamily="34" charset="0"/>
                <a:ea typeface="Arial" pitchFamily="34" charset="-122"/>
                <a:cs typeface="Arial" pitchFamily="34" charset="-120"/>
              </a:rPr>
              <a:t>DECISIONES DE DISEÑO</a:t>
            </a:r>
            <a:endParaRPr lang="en-US" sz="1200" dirty="0"/>
          </a:p>
        </p:txBody>
      </p:sp>
      <p:sp>
        <p:nvSpPr>
          <p:cNvPr id="3" name="Text 1"/>
          <p:cNvSpPr>
            <a:spLocks noGrp="1"/>
          </p:cNvSpPr>
          <p:nvPr>
            <p:ph type="title"/>
          </p:nvPr>
        </p:nvSpPr>
        <p:spPr>
          <a:xfrm>
            <a:off x="812800" y="1127761"/>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Por qué estrella y qué quedó fuera</a:t>
            </a:r>
            <a:endParaRPr lang="en-US" sz="3200" dirty="0"/>
          </a:p>
        </p:txBody>
      </p:sp>
      <p:sp>
        <p:nvSpPr>
          <p:cNvPr id="4" name="Text 2"/>
          <p:cNvSpPr/>
          <p:nvPr/>
        </p:nvSpPr>
        <p:spPr>
          <a:xfrm>
            <a:off x="812800" y="1899921"/>
            <a:ext cx="5284724"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2A3A"/>
                </a:solidFill>
                <a:latin typeface="Arial" pitchFamily="34" charset="0"/>
                <a:ea typeface="Arial" pitchFamily="34" charset="-122"/>
                <a:cs typeface="Arial" pitchFamily="34" charset="-120"/>
              </a:rPr>
              <a:t>Estrella, no copo de nieve</a:t>
            </a:r>
            <a:endParaRPr lang="en-US" sz="1800" dirty="0"/>
          </a:p>
        </p:txBody>
      </p:sp>
      <p:sp>
        <p:nvSpPr>
          <p:cNvPr id="5" name="Text 3"/>
          <p:cNvSpPr/>
          <p:nvPr/>
        </p:nvSpPr>
        <p:spPr>
          <a:xfrm>
            <a:off x="896620" y="2301239"/>
            <a:ext cx="5193284" cy="1130300"/>
          </a:xfrm>
          <a:prstGeom prst="rect">
            <a:avLst/>
          </a:prstGeom>
          <a:noFill/>
          <a:ln/>
        </p:spPr>
        <p:txBody>
          <a:bodyPr wrap="square" lIns="0" tIns="0" rIns="0" bIns="0" rtlCol="0" anchor="t">
            <a:normAutofit/>
          </a:bodyPr>
          <a:lstStyle/>
          <a:p>
            <a:pPr marL="170180" indent="-170180" algn="l">
              <a:lnSpc>
                <a:spcPts val="2175"/>
              </a:lnSpc>
              <a:buSzPct val="100000"/>
              <a:buChar char="•"/>
            </a:pPr>
            <a:r>
              <a:rPr lang="en-US" sz="1500" dirty="0">
                <a:solidFill>
                  <a:srgbClr val="3E4A57"/>
                </a:solidFill>
                <a:latin typeface="Arial" pitchFamily="34" charset="0"/>
                <a:ea typeface="Arial" pitchFamily="34" charset="-122"/>
                <a:cs typeface="Arial" pitchFamily="34" charset="-120"/>
              </a:rPr>
              <a:t>Dimensiones pequeñas: máximo 91 filas</a:t>
            </a:r>
            <a:endParaRPr lang="en-US" sz="1500" dirty="0"/>
          </a:p>
          <a:p>
            <a:pPr marL="170180" indent="-170180" algn="l">
              <a:lnSpc>
                <a:spcPts val="2175"/>
              </a:lnSpc>
              <a:buSzPct val="100000"/>
              <a:buChar char="•"/>
            </a:pPr>
            <a:r>
              <a:rPr lang="en-US" sz="1500" dirty="0">
                <a:solidFill>
                  <a:srgbClr val="3E4A57"/>
                </a:solidFill>
                <a:latin typeface="Arial" pitchFamily="34" charset="0"/>
                <a:ea typeface="Arial" pitchFamily="34" charset="-122"/>
                <a:cs typeface="Arial" pitchFamily="34" charset="-120"/>
              </a:rPr>
              <a:t>Un solo JOIN por dimensión</a:t>
            </a:r>
            <a:endParaRPr lang="en-US" sz="1500" dirty="0"/>
          </a:p>
          <a:p>
            <a:pPr marL="170180" indent="-170180" algn="l">
              <a:lnSpc>
                <a:spcPts val="2175"/>
              </a:lnSpc>
              <a:buSzPct val="100000"/>
              <a:buChar char="•"/>
            </a:pPr>
            <a:r>
              <a:rPr lang="en-US" sz="1500" dirty="0">
                <a:solidFill>
                  <a:srgbClr val="3E4A57"/>
                </a:solidFill>
                <a:latin typeface="Arial" pitchFamily="34" charset="0"/>
                <a:ea typeface="Arial" pitchFamily="34" charset="-122"/>
                <a:cs typeface="Arial" pitchFamily="34" charset="-120"/>
              </a:rPr>
              <a:t>SSAS y Power BI trabajan mejor con dimensiones planas</a:t>
            </a:r>
            <a:endParaRPr lang="en-US" sz="1500" dirty="0"/>
          </a:p>
          <a:p>
            <a:pPr marL="170180" indent="-170180" algn="l">
              <a:lnSpc>
                <a:spcPts val="2175"/>
              </a:lnSpc>
              <a:buSzPct val="100000"/>
              <a:buChar char="•"/>
            </a:pPr>
            <a:r>
              <a:rPr lang="en-US" sz="1500" dirty="0">
                <a:solidFill>
                  <a:srgbClr val="3E4A57"/>
                </a:solidFill>
                <a:latin typeface="Arial" pitchFamily="34" charset="0"/>
                <a:ea typeface="Arial" pitchFamily="34" charset="-122"/>
                <a:cs typeface="Arial" pitchFamily="34" charset="-120"/>
              </a:rPr>
              <a:t>Separar Categoría y Proveedor no aporta análisis nuevo</a:t>
            </a:r>
            <a:endParaRPr lang="en-US" sz="1500" dirty="0"/>
          </a:p>
        </p:txBody>
      </p:sp>
      <p:sp>
        <p:nvSpPr>
          <p:cNvPr id="6" name="Text 4"/>
          <p:cNvSpPr/>
          <p:nvPr/>
        </p:nvSpPr>
        <p:spPr>
          <a:xfrm>
            <a:off x="6248400" y="1899921"/>
            <a:ext cx="5284724"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2A3A"/>
                </a:solidFill>
                <a:latin typeface="Arial" pitchFamily="34" charset="0"/>
                <a:ea typeface="Arial" pitchFamily="34" charset="-122"/>
                <a:cs typeface="Arial" pitchFamily="34" charset="-120"/>
              </a:rPr>
              <a:t>Excluido</a:t>
            </a:r>
            <a:endParaRPr lang="en-US" sz="1800" dirty="0"/>
          </a:p>
        </p:txBody>
      </p:sp>
      <p:sp>
        <p:nvSpPr>
          <p:cNvPr id="7" name="Text 5"/>
          <p:cNvSpPr/>
          <p:nvPr/>
        </p:nvSpPr>
        <p:spPr>
          <a:xfrm>
            <a:off x="6332220" y="2301239"/>
            <a:ext cx="5193284" cy="1130300"/>
          </a:xfrm>
          <a:prstGeom prst="rect">
            <a:avLst/>
          </a:prstGeom>
          <a:noFill/>
          <a:ln/>
        </p:spPr>
        <p:txBody>
          <a:bodyPr wrap="square" lIns="0" tIns="0" rIns="0" bIns="0" rtlCol="0" anchor="t">
            <a:normAutofit/>
          </a:bodyPr>
          <a:lstStyle/>
          <a:p>
            <a:pPr marL="170180" indent="-170180" algn="l">
              <a:lnSpc>
                <a:spcPts val="2175"/>
              </a:lnSpc>
              <a:buSzPct val="100000"/>
              <a:buChar char="•"/>
            </a:pPr>
            <a:r>
              <a:rPr lang="en-US" sz="1500" dirty="0">
                <a:solidFill>
                  <a:srgbClr val="3E4A57"/>
                </a:solidFill>
                <a:latin typeface="Arial" pitchFamily="34" charset="0"/>
                <a:ea typeface="Arial" pitchFamily="34" charset="-122"/>
                <a:cs typeface="Arial" pitchFamily="34" charset="-120"/>
              </a:rPr>
              <a:t>Territorios y Regiones: muchos a muchos con empleados y la orden no registra territorio; generaría doble conteo</a:t>
            </a:r>
            <a:endParaRPr lang="en-US" sz="1500" dirty="0"/>
          </a:p>
          <a:p>
            <a:pPr marL="170180" indent="-170180" algn="l">
              <a:lnSpc>
                <a:spcPts val="2175"/>
              </a:lnSpc>
              <a:buSzPct val="100000"/>
              <a:buChar char="•"/>
            </a:pPr>
            <a:r>
              <a:rPr lang="en-US" sz="1500" dirty="0">
                <a:solidFill>
                  <a:srgbClr val="3E4A57"/>
                </a:solidFill>
                <a:latin typeface="Arial" pitchFamily="34" charset="0"/>
                <a:ea typeface="Arial" pitchFamily="34" charset="-122"/>
                <a:cs typeface="Arial" pitchFamily="34" charset="-120"/>
              </a:rPr>
              <a:t>Destino de envío: redundante con el país del </a:t>
            </a:r>
            <a:r>
              <a:rPr lang="en-US" sz="1500" dirty="0" err="1">
                <a:solidFill>
                  <a:srgbClr val="3E4A57"/>
                </a:solidFill>
                <a:latin typeface="Arial" pitchFamily="34" charset="0"/>
                <a:ea typeface="Arial" pitchFamily="34" charset="-122"/>
                <a:cs typeface="Arial" pitchFamily="34" charset="-120"/>
              </a:rPr>
              <a:t>cliente</a:t>
            </a:r>
            <a:endParaRPr lang="en-US" sz="1500" dirty="0"/>
          </a:p>
          <a:p>
            <a:pPr marL="170180" indent="-170180" algn="l">
              <a:lnSpc>
                <a:spcPts val="2175"/>
              </a:lnSpc>
              <a:buSzPct val="100000"/>
              <a:buChar char="•"/>
            </a:pPr>
            <a:r>
              <a:rPr lang="en-US" sz="1500" dirty="0">
                <a:solidFill>
                  <a:srgbClr val="3E4A57"/>
                </a:solidFill>
                <a:latin typeface="Arial" pitchFamily="34" charset="0"/>
                <a:ea typeface="Arial" pitchFamily="34" charset="-122"/>
                <a:cs typeface="Arial" pitchFamily="34" charset="-120"/>
              </a:rPr>
              <a:t>Imágenes, direcciones y teléfonos: sin uso analítico</a:t>
            </a:r>
            <a:endParaRPr lang="en-US" sz="1500" dirty="0"/>
          </a:p>
        </p:txBody>
      </p:sp>
      <p:sp>
        <p:nvSpPr>
          <p:cNvPr id="8" name="Text 6"/>
          <p:cNvSpPr/>
          <p:nvPr/>
        </p:nvSpPr>
        <p:spPr>
          <a:xfrm>
            <a:off x="812800" y="6238242"/>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1"/>
                </a:solidFill>
                <a:latin typeface="Arial" pitchFamily="34" charset="0"/>
                <a:ea typeface="Arial" pitchFamily="34" charset="-122"/>
                <a:cs typeface="Arial"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DEBE4"/>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0" i="0" u="none" strike="noStrike" kern="0" cap="none" spc="150" normalizeH="0" baseline="0" noProof="0" dirty="0">
                <a:ln>
                  <a:noFill/>
                </a:ln>
                <a:solidFill>
                  <a:srgbClr val="A0521A"/>
                </a:solidFill>
                <a:effectLst/>
                <a:uLnTx/>
                <a:uFillTx/>
                <a:latin typeface="Arial" pitchFamily="34" charset="0"/>
                <a:ea typeface="Arial" pitchFamily="34" charset="-122"/>
                <a:cs typeface="Arial" pitchFamily="34" charset="-120"/>
              </a:rPr>
              <a:t>IMPLEMENTACIÓN EN SQL SERVER</a:t>
            </a:r>
            <a:endParaRPr kumimoji="0" lang="en-US" sz="1200" b="0" i="0" u="none" strike="noStrike" kern="1200" cap="none" spc="0" normalizeH="0" baseline="0" noProof="0" dirty="0">
              <a:ln>
                <a:noFill/>
              </a:ln>
              <a:solidFill>
                <a:srgbClr val="1B2A3A"/>
              </a:solidFill>
              <a:effectLst/>
              <a:uLnTx/>
              <a:uFillTx/>
              <a:latin typeface="Arial"/>
              <a:ea typeface="+mn-ea"/>
              <a:cs typeface="+mn-cs"/>
            </a:endParaRPr>
          </a:p>
        </p:txBody>
      </p:sp>
      <p:sp>
        <p:nvSpPr>
          <p:cNvPr id="3" name="Text 1"/>
          <p:cNvSpPr>
            <a:spLocks noGrp="1"/>
          </p:cNvSpPr>
          <p:nvPr>
            <p:ph type="title"/>
          </p:nvPr>
        </p:nvSpPr>
        <p:spPr>
          <a:xfrm>
            <a:off x="812800" y="1127764"/>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01_crear_modelo_dimensional.sql</a:t>
            </a:r>
            <a:endParaRPr lang="en-US" sz="3200" dirty="0"/>
          </a:p>
        </p:txBody>
      </p:sp>
      <p:sp>
        <p:nvSpPr>
          <p:cNvPr id="4" name="Shape 2"/>
          <p:cNvSpPr/>
          <p:nvPr/>
        </p:nvSpPr>
        <p:spPr>
          <a:xfrm>
            <a:off x="812800" y="1899921"/>
            <a:ext cx="5207000" cy="1239520"/>
          </a:xfrm>
          <a:prstGeom prst="roundRect">
            <a:avLst>
              <a:gd name="adj" fmla="val 6148"/>
            </a:avLst>
          </a:prstGeom>
          <a:solidFill>
            <a:srgbClr val="F7F6F2"/>
          </a:solidFill>
          <a:ln/>
        </p:spPr>
      </p:sp>
      <p:sp>
        <p:nvSpPr>
          <p:cNvPr id="5" name="Text 3"/>
          <p:cNvSpPr/>
          <p:nvPr/>
        </p:nvSpPr>
        <p:spPr>
          <a:xfrm>
            <a:off x="1041400" y="2128521"/>
            <a:ext cx="4892294" cy="26924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B2A3A"/>
                </a:solidFill>
                <a:effectLst/>
                <a:uLnTx/>
                <a:uFillTx/>
                <a:latin typeface="Arial" pitchFamily="34" charset="0"/>
                <a:ea typeface="Arial" pitchFamily="34" charset="-122"/>
                <a:cs typeface="Arial" pitchFamily="34" charset="-120"/>
              </a:rPr>
              <a:t>Base separada KentFoodsDW</a:t>
            </a:r>
            <a:endParaRPr kumimoji="0" lang="en-US" sz="1600" b="0" i="0" u="none" strike="noStrike" kern="1200" cap="none" spc="0" normalizeH="0" baseline="0" noProof="0" dirty="0">
              <a:ln>
                <a:noFill/>
              </a:ln>
              <a:solidFill>
                <a:srgbClr val="1B2A3A"/>
              </a:solidFill>
              <a:effectLst/>
              <a:uLnTx/>
              <a:uFillTx/>
              <a:latin typeface="Arial"/>
              <a:ea typeface="+mn-ea"/>
              <a:cs typeface="+mn-cs"/>
            </a:endParaRPr>
          </a:p>
        </p:txBody>
      </p:sp>
      <p:sp>
        <p:nvSpPr>
          <p:cNvPr id="6" name="Text 4"/>
          <p:cNvSpPr/>
          <p:nvPr/>
        </p:nvSpPr>
        <p:spPr>
          <a:xfrm>
            <a:off x="1041400" y="2448564"/>
            <a:ext cx="4892294" cy="48768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3E4A57"/>
                </a:solidFill>
                <a:effectLst/>
                <a:uLnTx/>
                <a:uFillTx/>
                <a:latin typeface="Arial" pitchFamily="34" charset="0"/>
                <a:ea typeface="Arial" pitchFamily="34" charset="-122"/>
                <a:cs typeface="Arial" pitchFamily="34" charset="-120"/>
              </a:rPr>
              <a:t>No se mezcla el entorno transaccional con el analítico. Se puede re-ejecutar desde cero.</a:t>
            </a:r>
            <a:endParaRPr kumimoji="0" lang="en-US" sz="1300" b="0" i="0" u="none" strike="noStrike" kern="1200" cap="none" spc="0" normalizeH="0" baseline="0" noProof="0" dirty="0">
              <a:ln>
                <a:noFill/>
              </a:ln>
              <a:solidFill>
                <a:srgbClr val="1B2A3A"/>
              </a:solidFill>
              <a:effectLst/>
              <a:uLnTx/>
              <a:uFillTx/>
              <a:latin typeface="Arial"/>
              <a:ea typeface="+mn-ea"/>
              <a:cs typeface="+mn-cs"/>
            </a:endParaRPr>
          </a:p>
        </p:txBody>
      </p:sp>
      <p:sp>
        <p:nvSpPr>
          <p:cNvPr id="7" name="Shape 5"/>
          <p:cNvSpPr/>
          <p:nvPr/>
        </p:nvSpPr>
        <p:spPr>
          <a:xfrm>
            <a:off x="6172200" y="1899921"/>
            <a:ext cx="5207000" cy="1239520"/>
          </a:xfrm>
          <a:prstGeom prst="roundRect">
            <a:avLst>
              <a:gd name="adj" fmla="val 6148"/>
            </a:avLst>
          </a:prstGeom>
          <a:solidFill>
            <a:srgbClr val="F7F6F2"/>
          </a:solidFill>
          <a:ln/>
        </p:spPr>
      </p:sp>
      <p:sp>
        <p:nvSpPr>
          <p:cNvPr id="8" name="Text 6"/>
          <p:cNvSpPr/>
          <p:nvPr/>
        </p:nvSpPr>
        <p:spPr>
          <a:xfrm>
            <a:off x="6400800" y="2128521"/>
            <a:ext cx="4892294" cy="26924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B2A3A"/>
                </a:solidFill>
                <a:effectLst/>
                <a:uLnTx/>
                <a:uFillTx/>
                <a:latin typeface="Arial" pitchFamily="34" charset="0"/>
                <a:ea typeface="Arial" pitchFamily="34" charset="-122"/>
                <a:cs typeface="Arial" pitchFamily="34" charset="-120"/>
              </a:rPr>
              <a:t>Claves sustitutas</a:t>
            </a:r>
            <a:endParaRPr kumimoji="0" lang="en-US" sz="1600" b="0" i="0" u="none" strike="noStrike" kern="1200" cap="none" spc="0" normalizeH="0" baseline="0" noProof="0" dirty="0">
              <a:ln>
                <a:noFill/>
              </a:ln>
              <a:solidFill>
                <a:srgbClr val="1B2A3A"/>
              </a:solidFill>
              <a:effectLst/>
              <a:uLnTx/>
              <a:uFillTx/>
              <a:latin typeface="Arial"/>
              <a:ea typeface="+mn-ea"/>
              <a:cs typeface="+mn-cs"/>
            </a:endParaRPr>
          </a:p>
        </p:txBody>
      </p:sp>
      <p:sp>
        <p:nvSpPr>
          <p:cNvPr id="9" name="Text 7"/>
          <p:cNvSpPr/>
          <p:nvPr/>
        </p:nvSpPr>
        <p:spPr>
          <a:xfrm>
            <a:off x="6400800" y="2448564"/>
            <a:ext cx="4892294" cy="48768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3E4A57"/>
                </a:solidFill>
                <a:effectLst/>
                <a:uLnTx/>
                <a:uFillTx/>
                <a:latin typeface="Arial" pitchFamily="34" charset="0"/>
                <a:ea typeface="Arial" pitchFamily="34" charset="-122"/>
                <a:cs typeface="Arial" pitchFamily="34" charset="-120"/>
              </a:rPr>
              <a:t>INT IDENTITY en cada dimensión; la clave natural se guarda para los Lookup del ETL. SCD tipo 1.</a:t>
            </a:r>
            <a:endParaRPr kumimoji="0" lang="en-US" sz="1300" b="0" i="0" u="none" strike="noStrike" kern="1200" cap="none" spc="0" normalizeH="0" baseline="0" noProof="0" dirty="0">
              <a:ln>
                <a:noFill/>
              </a:ln>
              <a:solidFill>
                <a:srgbClr val="1B2A3A"/>
              </a:solidFill>
              <a:effectLst/>
              <a:uLnTx/>
              <a:uFillTx/>
              <a:latin typeface="Arial"/>
              <a:ea typeface="+mn-ea"/>
              <a:cs typeface="+mn-cs"/>
            </a:endParaRPr>
          </a:p>
        </p:txBody>
      </p:sp>
      <p:sp>
        <p:nvSpPr>
          <p:cNvPr id="10" name="Shape 8"/>
          <p:cNvSpPr/>
          <p:nvPr/>
        </p:nvSpPr>
        <p:spPr>
          <a:xfrm>
            <a:off x="812800" y="3291842"/>
            <a:ext cx="5207000" cy="1239520"/>
          </a:xfrm>
          <a:prstGeom prst="roundRect">
            <a:avLst>
              <a:gd name="adj" fmla="val 6148"/>
            </a:avLst>
          </a:prstGeom>
          <a:solidFill>
            <a:srgbClr val="F7F6F2"/>
          </a:solidFill>
          <a:ln/>
        </p:spPr>
      </p:sp>
      <p:sp>
        <p:nvSpPr>
          <p:cNvPr id="11" name="Text 9"/>
          <p:cNvSpPr/>
          <p:nvPr/>
        </p:nvSpPr>
        <p:spPr>
          <a:xfrm>
            <a:off x="1041400" y="3520442"/>
            <a:ext cx="4892294" cy="26924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B2A3A"/>
                </a:solidFill>
                <a:effectLst/>
                <a:uLnTx/>
                <a:uFillTx/>
                <a:latin typeface="Arial" pitchFamily="34" charset="0"/>
                <a:ea typeface="Arial" pitchFamily="34" charset="-122"/>
                <a:cs typeface="Arial" pitchFamily="34" charset="-120"/>
              </a:rPr>
              <a:t>PK = granularidad</a:t>
            </a:r>
            <a:endParaRPr kumimoji="0" lang="en-US" sz="1600" b="0" i="0" u="none" strike="noStrike" kern="1200" cap="none" spc="0" normalizeH="0" baseline="0" noProof="0" dirty="0">
              <a:ln>
                <a:noFill/>
              </a:ln>
              <a:solidFill>
                <a:srgbClr val="1B2A3A"/>
              </a:solidFill>
              <a:effectLst/>
              <a:uLnTx/>
              <a:uFillTx/>
              <a:latin typeface="Arial"/>
              <a:ea typeface="+mn-ea"/>
              <a:cs typeface="+mn-cs"/>
            </a:endParaRPr>
          </a:p>
        </p:txBody>
      </p:sp>
      <p:sp>
        <p:nvSpPr>
          <p:cNvPr id="12" name="Text 10"/>
          <p:cNvSpPr/>
          <p:nvPr/>
        </p:nvSpPr>
        <p:spPr>
          <a:xfrm>
            <a:off x="1041400" y="3840479"/>
            <a:ext cx="4892294" cy="48768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3E4A57"/>
                </a:solidFill>
                <a:effectLst/>
                <a:uLnTx/>
                <a:uFillTx/>
                <a:latin typeface="Arial" pitchFamily="34" charset="0"/>
                <a:ea typeface="Arial" pitchFamily="34" charset="-122"/>
                <a:cs typeface="Arial" pitchFamily="34" charset="-120"/>
              </a:rPr>
              <a:t>(OrdenID, ProductoKey) rechaza líneas duplicadas. 7 FK aseguran la integridad.</a:t>
            </a:r>
            <a:endParaRPr kumimoji="0" lang="en-US" sz="1300" b="0" i="0" u="none" strike="noStrike" kern="1200" cap="none" spc="0" normalizeH="0" baseline="0" noProof="0" dirty="0">
              <a:ln>
                <a:noFill/>
              </a:ln>
              <a:solidFill>
                <a:srgbClr val="1B2A3A"/>
              </a:solidFill>
              <a:effectLst/>
              <a:uLnTx/>
              <a:uFillTx/>
              <a:latin typeface="Arial"/>
              <a:ea typeface="+mn-ea"/>
              <a:cs typeface="+mn-cs"/>
            </a:endParaRPr>
          </a:p>
        </p:txBody>
      </p:sp>
      <p:sp>
        <p:nvSpPr>
          <p:cNvPr id="13" name="Shape 11"/>
          <p:cNvSpPr/>
          <p:nvPr/>
        </p:nvSpPr>
        <p:spPr>
          <a:xfrm>
            <a:off x="6172200" y="3291842"/>
            <a:ext cx="5207000" cy="1239520"/>
          </a:xfrm>
          <a:prstGeom prst="roundRect">
            <a:avLst>
              <a:gd name="adj" fmla="val 6148"/>
            </a:avLst>
          </a:prstGeom>
          <a:solidFill>
            <a:srgbClr val="F7F6F2"/>
          </a:solidFill>
          <a:ln/>
        </p:spPr>
      </p:sp>
      <p:sp>
        <p:nvSpPr>
          <p:cNvPr id="14" name="Text 12"/>
          <p:cNvSpPr/>
          <p:nvPr/>
        </p:nvSpPr>
        <p:spPr>
          <a:xfrm>
            <a:off x="6400800" y="3520442"/>
            <a:ext cx="4892294" cy="26924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2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B2A3A"/>
                </a:solidFill>
                <a:effectLst/>
                <a:uLnTx/>
                <a:uFillTx/>
                <a:latin typeface="Arial" pitchFamily="34" charset="0"/>
                <a:ea typeface="Arial" pitchFamily="34" charset="-122"/>
                <a:cs typeface="Arial" pitchFamily="34" charset="-120"/>
              </a:rPr>
              <a:t>DimTiempo generada</a:t>
            </a:r>
            <a:endParaRPr kumimoji="0" lang="en-US" sz="1600" b="0" i="0" u="none" strike="noStrike" kern="1200" cap="none" spc="0" normalizeH="0" baseline="0" noProof="0" dirty="0">
              <a:ln>
                <a:noFill/>
              </a:ln>
              <a:solidFill>
                <a:srgbClr val="1B2A3A"/>
              </a:solidFill>
              <a:effectLst/>
              <a:uLnTx/>
              <a:uFillTx/>
              <a:latin typeface="Arial"/>
              <a:ea typeface="+mn-ea"/>
              <a:cs typeface="+mn-cs"/>
            </a:endParaRPr>
          </a:p>
        </p:txBody>
      </p:sp>
      <p:sp>
        <p:nvSpPr>
          <p:cNvPr id="15" name="Text 13"/>
          <p:cNvSpPr/>
          <p:nvPr/>
        </p:nvSpPr>
        <p:spPr>
          <a:xfrm>
            <a:off x="6400800" y="3840479"/>
            <a:ext cx="4892294" cy="48768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2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3E4A57"/>
                </a:solidFill>
                <a:effectLst/>
                <a:uLnTx/>
                <a:uFillTx/>
                <a:latin typeface="Arial" pitchFamily="34" charset="0"/>
                <a:ea typeface="Arial" pitchFamily="34" charset="-122"/>
                <a:cs typeface="Arial" pitchFamily="34" charset="-120"/>
              </a:rPr>
              <a:t>Clave AAAAMMDD, 2016–2018 más la fila −1. Nombres en español con CHOOSE.</a:t>
            </a:r>
            <a:endParaRPr kumimoji="0" lang="en-US" sz="1300" b="0" i="0" u="none" strike="noStrike" kern="1200" cap="none" spc="0" normalizeH="0" baseline="0" noProof="0" dirty="0">
              <a:ln>
                <a:noFill/>
              </a:ln>
              <a:solidFill>
                <a:srgbClr val="1B2A3A"/>
              </a:solidFill>
              <a:effectLst/>
              <a:uLnTx/>
              <a:uFillTx/>
              <a:latin typeface="Arial"/>
              <a:ea typeface="+mn-ea"/>
              <a:cs typeface="+mn-cs"/>
            </a:endParaRPr>
          </a:p>
        </p:txBody>
      </p:sp>
      <p:sp>
        <p:nvSpPr>
          <p:cNvPr id="16" name="Text 14"/>
          <p:cNvSpPr/>
          <p:nvPr/>
        </p:nvSpPr>
        <p:spPr>
          <a:xfrm>
            <a:off x="812800" y="6238242"/>
            <a:ext cx="10883392" cy="2387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A8591"/>
                </a:solidFill>
                <a:effectLst/>
                <a:uLnTx/>
                <a:uFillTx/>
                <a:latin typeface="Arial" pitchFamily="34" charset="0"/>
                <a:ea typeface="Arial" pitchFamily="34" charset="-122"/>
                <a:cs typeface="Arial" pitchFamily="34" charset="-120"/>
              </a:rPr>
              <a:t>9</a:t>
            </a:r>
            <a:endParaRPr kumimoji="0" lang="en-US" sz="1200" b="0" i="0" u="none" strike="noStrike" kern="1200" cap="none" spc="0" normalizeH="0" baseline="0" noProof="0" dirty="0">
              <a:ln>
                <a:noFill/>
              </a:ln>
              <a:solidFill>
                <a:srgbClr val="1B2A3A"/>
              </a:solidFill>
              <a:effectLst/>
              <a:uLnTx/>
              <a:uFillTx/>
              <a:latin typeface="Arial"/>
              <a:ea typeface="+mn-ea"/>
              <a:cs typeface="+mn-c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A3A"/>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E8A35A"/>
                </a:solidFill>
                <a:latin typeface="Arial" pitchFamily="34" charset="0"/>
                <a:ea typeface="Arial" pitchFamily="34" charset="-122"/>
                <a:cs typeface="Arial" pitchFamily="34" charset="-120"/>
              </a:rPr>
              <a:t>VALIDACIÓN DE LA CARGA</a:t>
            </a:r>
            <a:endParaRPr lang="en-US" sz="1200" dirty="0"/>
          </a:p>
        </p:txBody>
      </p:sp>
      <p:sp>
        <p:nvSpPr>
          <p:cNvPr id="3" name="Text 1"/>
          <p:cNvSpPr>
            <a:spLocks noGrp="1"/>
          </p:cNvSpPr>
          <p:nvPr>
            <p:ph type="title"/>
          </p:nvPr>
        </p:nvSpPr>
        <p:spPr>
          <a:xfrm>
            <a:off x="812800" y="1127764"/>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7F6F2"/>
                </a:solidFill>
                <a:latin typeface="Georgia" pitchFamily="18" charset="0"/>
                <a:ea typeface="Georgia" pitchFamily="18" charset="-122"/>
                <a:cs typeface="Georgia" pitchFamily="18" charset="-120"/>
              </a:rPr>
              <a:t>Validación: origen contra DW</a:t>
            </a:r>
            <a:endParaRPr lang="en-US" sz="3200" dirty="0"/>
          </a:p>
        </p:txBody>
      </p:sp>
      <p:sp>
        <p:nvSpPr>
          <p:cNvPr id="11" name="Text 9"/>
          <p:cNvSpPr/>
          <p:nvPr/>
        </p:nvSpPr>
        <p:spPr>
          <a:xfrm>
            <a:off x="812800" y="6238242"/>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A0B1"/>
                </a:solidFill>
                <a:latin typeface="Arial" pitchFamily="34" charset="0"/>
                <a:ea typeface="Arial" pitchFamily="34" charset="-122"/>
                <a:cs typeface="Arial" pitchFamily="34" charset="-120"/>
              </a:rPr>
              <a:t>10</a:t>
            </a:r>
            <a:endParaRPr lang="en-US" sz="1200" dirty="0"/>
          </a:p>
        </p:txBody>
      </p:sp>
      <p:sp>
        <p:nvSpPr>
          <p:cNvPr id="12" name="Rounded Rectangle 11"/>
          <p:cNvSpPr/>
          <p:nvPr/>
        </p:nvSpPr>
        <p:spPr>
          <a:xfrm>
            <a:off x="813816" y="1874519"/>
            <a:ext cx="5852160" cy="2926080"/>
          </a:xfrm>
          <a:prstGeom prst="roundRect">
            <a:avLst>
              <a:gd name="adj" fmla="val 4000"/>
            </a:avLst>
          </a:prstGeom>
          <a:solidFill>
            <a:srgbClr val="263A50"/>
          </a:solidFill>
          <a:ln>
            <a:noFill/>
          </a:ln>
          <a:effectLst/>
        </p:spPr>
        <p:style>
          <a:lnRef idx="1">
            <a:schemeClr val="accent1"/>
          </a:lnRef>
          <a:fillRef idx="3">
            <a:schemeClr val="accent1"/>
          </a:fillRef>
          <a:effectRef idx="2">
            <a:schemeClr val="accent1"/>
          </a:effectRef>
          <a:fontRef idx="minor">
            <a:schemeClr val="lt1"/>
          </a:fontRef>
        </p:style>
        <p:txBody>
          <a:bodyPr wrap="square" lIns="201168" tIns="146304" rIns="201168" bIns="146304" rtlCol="0" anchor="t"/>
          <a:lstStyle/>
          <a:p>
            <a:pPr algn="l">
              <a:lnSpc>
                <a:spcPct val="110000"/>
              </a:lnSpc>
            </a:pPr>
            <a:r>
              <a:rPr sz="1200">
                <a:solidFill>
                  <a:srgbClr val="E6E1D6"/>
                </a:solidFill>
                <a:latin typeface="Consolas"/>
              </a:rPr>
              <a:t>SELECT Validacion, Origen, DW,</a:t>
            </a:r>
          </a:p>
          <a:p>
            <a:pPr algn="l">
              <a:lnSpc>
                <a:spcPct val="110000"/>
              </a:lnSpc>
            </a:pPr>
            <a:r>
              <a:rPr sz="1200">
                <a:solidFill>
                  <a:srgbClr val="E6E1D6"/>
                </a:solidFill>
                <a:latin typeface="Consolas"/>
              </a:rPr>
              <a:t>  CASE WHEN Origen = DW</a:t>
            </a:r>
          </a:p>
          <a:p>
            <a:pPr algn="l">
              <a:lnSpc>
                <a:spcPct val="110000"/>
              </a:lnSpc>
            </a:pPr>
            <a:r>
              <a:rPr sz="1200">
                <a:solidFill>
                  <a:srgbClr val="E6E1D6"/>
                </a:solidFill>
                <a:latin typeface="Consolas"/>
              </a:rPr>
              <a:t>       THEN 'OK' ELSE 'ERROR' END</a:t>
            </a:r>
          </a:p>
          <a:p>
            <a:pPr algn="l">
              <a:lnSpc>
                <a:spcPct val="110000"/>
              </a:lnSpc>
            </a:pPr>
            <a:r>
              <a:rPr sz="1200">
                <a:solidFill>
                  <a:srgbClr val="E6E1D6"/>
                </a:solidFill>
                <a:latin typeface="Consolas"/>
              </a:rPr>
              <a:t>FROM (</a:t>
            </a:r>
          </a:p>
          <a:p>
            <a:pPr algn="l">
              <a:lnSpc>
                <a:spcPct val="110000"/>
              </a:lnSpc>
            </a:pPr>
            <a:r>
              <a:rPr sz="1200">
                <a:solidFill>
                  <a:srgbClr val="E6E1D6"/>
                </a:solidFill>
                <a:latin typeface="Consolas"/>
              </a:rPr>
              <a:t>  SELECT 'Filas FactVentas',</a:t>
            </a:r>
          </a:p>
          <a:p>
            <a:pPr algn="l">
              <a:lnSpc>
                <a:spcPct val="110000"/>
              </a:lnSpc>
            </a:pPr>
            <a:r>
              <a:rPr sz="1200">
                <a:solidFill>
                  <a:srgbClr val="E6E1D6"/>
                </a:solidFill>
                <a:latin typeface="Consolas"/>
              </a:rPr>
              <a:t>    (SELECT COUNT(*) FROM KentFoods.dbo.DetalleOrden),</a:t>
            </a:r>
          </a:p>
          <a:p>
            <a:pPr algn="l">
              <a:lnSpc>
                <a:spcPct val="110000"/>
              </a:lnSpc>
            </a:pPr>
            <a:r>
              <a:rPr sz="1200">
                <a:solidFill>
                  <a:srgbClr val="E6E1D6"/>
                </a:solidFill>
                <a:latin typeface="Consolas"/>
              </a:rPr>
              <a:t>    (SELECT COUNT(*) FROM FactVentas)</a:t>
            </a:r>
          </a:p>
          <a:p>
            <a:pPr algn="l">
              <a:lnSpc>
                <a:spcPct val="110000"/>
              </a:lnSpc>
            </a:pPr>
            <a:r>
              <a:rPr sz="1200">
                <a:solidFill>
                  <a:srgbClr val="E6E1D6"/>
                </a:solidFill>
                <a:latin typeface="Consolas"/>
              </a:rPr>
              <a:t>  UNION ALL ...</a:t>
            </a:r>
          </a:p>
          <a:p>
            <a:pPr algn="l">
              <a:lnSpc>
                <a:spcPct val="110000"/>
              </a:lnSpc>
            </a:pPr>
            <a:r>
              <a:rPr sz="1200">
                <a:solidFill>
                  <a:srgbClr val="E6E1D6"/>
                </a:solidFill>
                <a:latin typeface="Consolas"/>
              </a:rPr>
              <a:t>) AS v (Validacion, Origen, DW);</a:t>
            </a:r>
          </a:p>
        </p:txBody>
      </p:sp>
      <p:graphicFrame>
        <p:nvGraphicFramePr>
          <p:cNvPr id="13" name="Table 12"/>
          <p:cNvGraphicFramePr>
            <a:graphicFrameLocks noGrp="1"/>
          </p:cNvGraphicFramePr>
          <p:nvPr/>
        </p:nvGraphicFramePr>
        <p:xfrm>
          <a:off x="6986016" y="1874519"/>
          <a:ext cx="4389120" cy="1920240"/>
        </p:xfrm>
        <a:graphic>
          <a:graphicData uri="http://schemas.openxmlformats.org/drawingml/2006/table">
            <a:tbl>
              <a:tblPr firstRow="1" bandRow="1">
                <a:tableStyleId>{5C22544A-7EE6-4342-B048-85BDC9FD1C3A}</a:tableStyleId>
              </a:tblPr>
              <a:tblGrid>
                <a:gridCol w="16002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tblGrid>
              <a:tr h="384048">
                <a:tc>
                  <a:txBody>
                    <a:bodyPr/>
                    <a:lstStyle/>
                    <a:p>
                      <a:pPr algn="l"/>
                      <a:r>
                        <a:rPr sz="1200" b="1">
                          <a:solidFill>
                            <a:srgbClr val="E8A35A"/>
                          </a:solidFill>
                          <a:latin typeface="Arial"/>
                        </a:rPr>
                        <a:t>Control</a:t>
                      </a:r>
                    </a:p>
                  </a:txBody>
                  <a:tcPr>
                    <a:solidFill>
                      <a:srgbClr val="263A50"/>
                    </a:solidFill>
                  </a:tcPr>
                </a:tc>
                <a:tc>
                  <a:txBody>
                    <a:bodyPr/>
                    <a:lstStyle/>
                    <a:p>
                      <a:pPr algn="r"/>
                      <a:r>
                        <a:rPr sz="1200" b="1">
                          <a:solidFill>
                            <a:srgbClr val="E8A35A"/>
                          </a:solidFill>
                          <a:latin typeface="Arial"/>
                        </a:rPr>
                        <a:t>Origen</a:t>
                      </a:r>
                    </a:p>
                  </a:txBody>
                  <a:tcPr>
                    <a:solidFill>
                      <a:srgbClr val="263A50"/>
                    </a:solidFill>
                  </a:tcPr>
                </a:tc>
                <a:tc>
                  <a:txBody>
                    <a:bodyPr/>
                    <a:lstStyle/>
                    <a:p>
                      <a:pPr algn="r"/>
                      <a:r>
                        <a:rPr sz="1200" b="1">
                          <a:solidFill>
                            <a:srgbClr val="E8A35A"/>
                          </a:solidFill>
                          <a:latin typeface="Arial"/>
                        </a:rPr>
                        <a:t>DW</a:t>
                      </a:r>
                    </a:p>
                  </a:txBody>
                  <a:tcPr>
                    <a:solidFill>
                      <a:srgbClr val="263A50"/>
                    </a:solidFill>
                  </a:tcPr>
                </a:tc>
                <a:tc>
                  <a:txBody>
                    <a:bodyPr/>
                    <a:lstStyle/>
                    <a:p>
                      <a:pPr algn="r"/>
                      <a:endParaRPr/>
                    </a:p>
                  </a:txBody>
                  <a:tcPr>
                    <a:solidFill>
                      <a:srgbClr val="263A50"/>
                    </a:solidFill>
                  </a:tcPr>
                </a:tc>
                <a:extLst>
                  <a:ext uri="{0D108BD9-81ED-4DB2-BD59-A6C34878D82A}">
                    <a16:rowId xmlns:a16="http://schemas.microsoft.com/office/drawing/2014/main" val="10000"/>
                  </a:ext>
                </a:extLst>
              </a:tr>
              <a:tr h="384048">
                <a:tc>
                  <a:txBody>
                    <a:bodyPr/>
                    <a:lstStyle/>
                    <a:p>
                      <a:pPr algn="l"/>
                      <a:r>
                        <a:rPr sz="1200" b="0">
                          <a:solidFill>
                            <a:srgbClr val="C9D3DD"/>
                          </a:solidFill>
                          <a:latin typeface="Arial"/>
                        </a:rPr>
                        <a:t>Filas FactVentas</a:t>
                      </a:r>
                    </a:p>
                  </a:txBody>
                  <a:tcPr>
                    <a:solidFill>
                      <a:srgbClr val="1B2A3A"/>
                    </a:solidFill>
                  </a:tcPr>
                </a:tc>
                <a:tc>
                  <a:txBody>
                    <a:bodyPr/>
                    <a:lstStyle/>
                    <a:p>
                      <a:pPr algn="r"/>
                      <a:r>
                        <a:rPr sz="1200" b="0">
                          <a:solidFill>
                            <a:srgbClr val="C9D3DD"/>
                          </a:solidFill>
                          <a:latin typeface="Arial"/>
                        </a:rPr>
                        <a:t>2.155</a:t>
                      </a:r>
                    </a:p>
                  </a:txBody>
                  <a:tcPr>
                    <a:solidFill>
                      <a:srgbClr val="1B2A3A"/>
                    </a:solidFill>
                  </a:tcPr>
                </a:tc>
                <a:tc>
                  <a:txBody>
                    <a:bodyPr/>
                    <a:lstStyle/>
                    <a:p>
                      <a:pPr algn="r"/>
                      <a:r>
                        <a:rPr sz="1200" b="0">
                          <a:solidFill>
                            <a:srgbClr val="C9D3DD"/>
                          </a:solidFill>
                          <a:latin typeface="Arial"/>
                        </a:rPr>
                        <a:t>2.155</a:t>
                      </a:r>
                    </a:p>
                  </a:txBody>
                  <a:tcPr>
                    <a:solidFill>
                      <a:srgbClr val="1B2A3A"/>
                    </a:solidFill>
                  </a:tcPr>
                </a:tc>
                <a:tc>
                  <a:txBody>
                    <a:bodyPr/>
                    <a:lstStyle/>
                    <a:p>
                      <a:pPr algn="r"/>
                      <a:r>
                        <a:rPr sz="1200" b="1">
                          <a:solidFill>
                            <a:srgbClr val="E8A35A"/>
                          </a:solidFill>
                          <a:latin typeface="Arial"/>
                        </a:rPr>
                        <a:t>OK</a:t>
                      </a:r>
                    </a:p>
                  </a:txBody>
                  <a:tcPr>
                    <a:solidFill>
                      <a:srgbClr val="1B2A3A"/>
                    </a:solidFill>
                  </a:tcPr>
                </a:tc>
                <a:extLst>
                  <a:ext uri="{0D108BD9-81ED-4DB2-BD59-A6C34878D82A}">
                    <a16:rowId xmlns:a16="http://schemas.microsoft.com/office/drawing/2014/main" val="10001"/>
                  </a:ext>
                </a:extLst>
              </a:tr>
              <a:tr h="384048">
                <a:tc>
                  <a:txBody>
                    <a:bodyPr/>
                    <a:lstStyle/>
                    <a:p>
                      <a:pPr algn="l"/>
                      <a:r>
                        <a:rPr sz="1200" b="0">
                          <a:solidFill>
                            <a:srgbClr val="C9D3DD"/>
                          </a:solidFill>
                          <a:latin typeface="Arial"/>
                        </a:rPr>
                        <a:t>Órdenes distintas</a:t>
                      </a:r>
                    </a:p>
                  </a:txBody>
                  <a:tcPr>
                    <a:solidFill>
                      <a:srgbClr val="1B2A3A"/>
                    </a:solidFill>
                  </a:tcPr>
                </a:tc>
                <a:tc>
                  <a:txBody>
                    <a:bodyPr/>
                    <a:lstStyle/>
                    <a:p>
                      <a:pPr algn="r"/>
                      <a:r>
                        <a:rPr sz="1200" b="0">
                          <a:solidFill>
                            <a:srgbClr val="C9D3DD"/>
                          </a:solidFill>
                          <a:latin typeface="Arial"/>
                        </a:rPr>
                        <a:t>830</a:t>
                      </a:r>
                    </a:p>
                  </a:txBody>
                  <a:tcPr>
                    <a:solidFill>
                      <a:srgbClr val="1B2A3A"/>
                    </a:solidFill>
                  </a:tcPr>
                </a:tc>
                <a:tc>
                  <a:txBody>
                    <a:bodyPr/>
                    <a:lstStyle/>
                    <a:p>
                      <a:pPr algn="r"/>
                      <a:r>
                        <a:rPr sz="1200" b="0">
                          <a:solidFill>
                            <a:srgbClr val="C9D3DD"/>
                          </a:solidFill>
                          <a:latin typeface="Arial"/>
                        </a:rPr>
                        <a:t>830</a:t>
                      </a:r>
                    </a:p>
                  </a:txBody>
                  <a:tcPr>
                    <a:solidFill>
                      <a:srgbClr val="1B2A3A"/>
                    </a:solidFill>
                  </a:tcPr>
                </a:tc>
                <a:tc>
                  <a:txBody>
                    <a:bodyPr/>
                    <a:lstStyle/>
                    <a:p>
                      <a:pPr algn="r"/>
                      <a:r>
                        <a:rPr sz="1200" b="1">
                          <a:solidFill>
                            <a:srgbClr val="E8A35A"/>
                          </a:solidFill>
                          <a:latin typeface="Arial"/>
                        </a:rPr>
                        <a:t>OK</a:t>
                      </a:r>
                    </a:p>
                  </a:txBody>
                  <a:tcPr>
                    <a:solidFill>
                      <a:srgbClr val="1B2A3A"/>
                    </a:solidFill>
                  </a:tcPr>
                </a:tc>
                <a:extLst>
                  <a:ext uri="{0D108BD9-81ED-4DB2-BD59-A6C34878D82A}">
                    <a16:rowId xmlns:a16="http://schemas.microsoft.com/office/drawing/2014/main" val="10002"/>
                  </a:ext>
                </a:extLst>
              </a:tr>
              <a:tr h="384048">
                <a:tc>
                  <a:txBody>
                    <a:bodyPr/>
                    <a:lstStyle/>
                    <a:p>
                      <a:pPr algn="l"/>
                      <a:r>
                        <a:rPr sz="1200" b="0">
                          <a:solidFill>
                            <a:srgbClr val="C9D3DD"/>
                          </a:solidFill>
                          <a:latin typeface="Arial"/>
                        </a:rPr>
                        <a:t>Órdenes sin envío</a:t>
                      </a:r>
                    </a:p>
                  </a:txBody>
                  <a:tcPr>
                    <a:solidFill>
                      <a:srgbClr val="1B2A3A"/>
                    </a:solidFill>
                  </a:tcPr>
                </a:tc>
                <a:tc>
                  <a:txBody>
                    <a:bodyPr/>
                    <a:lstStyle/>
                    <a:p>
                      <a:pPr algn="r"/>
                      <a:r>
                        <a:rPr sz="1200" b="0">
                          <a:solidFill>
                            <a:srgbClr val="C9D3DD"/>
                          </a:solidFill>
                          <a:latin typeface="Arial"/>
                        </a:rPr>
                        <a:t>21</a:t>
                      </a:r>
                    </a:p>
                  </a:txBody>
                  <a:tcPr>
                    <a:solidFill>
                      <a:srgbClr val="1B2A3A"/>
                    </a:solidFill>
                  </a:tcPr>
                </a:tc>
                <a:tc>
                  <a:txBody>
                    <a:bodyPr/>
                    <a:lstStyle/>
                    <a:p>
                      <a:pPr algn="r"/>
                      <a:r>
                        <a:rPr sz="1200" b="0">
                          <a:solidFill>
                            <a:srgbClr val="C9D3DD"/>
                          </a:solidFill>
                          <a:latin typeface="Arial"/>
                        </a:rPr>
                        <a:t>21</a:t>
                      </a:r>
                    </a:p>
                  </a:txBody>
                  <a:tcPr>
                    <a:solidFill>
                      <a:srgbClr val="1B2A3A"/>
                    </a:solidFill>
                  </a:tcPr>
                </a:tc>
                <a:tc>
                  <a:txBody>
                    <a:bodyPr/>
                    <a:lstStyle/>
                    <a:p>
                      <a:pPr algn="r"/>
                      <a:r>
                        <a:rPr sz="1200" b="1">
                          <a:solidFill>
                            <a:srgbClr val="E8A35A"/>
                          </a:solidFill>
                          <a:latin typeface="Arial"/>
                        </a:rPr>
                        <a:t>OK</a:t>
                      </a:r>
                    </a:p>
                  </a:txBody>
                  <a:tcPr>
                    <a:solidFill>
                      <a:srgbClr val="1B2A3A"/>
                    </a:solidFill>
                  </a:tcPr>
                </a:tc>
                <a:extLst>
                  <a:ext uri="{0D108BD9-81ED-4DB2-BD59-A6C34878D82A}">
                    <a16:rowId xmlns:a16="http://schemas.microsoft.com/office/drawing/2014/main" val="10003"/>
                  </a:ext>
                </a:extLst>
              </a:tr>
              <a:tr h="384048">
                <a:tc>
                  <a:txBody>
                    <a:bodyPr/>
                    <a:lstStyle/>
                    <a:p>
                      <a:pPr algn="l"/>
                      <a:r>
                        <a:rPr sz="1200" b="0">
                          <a:solidFill>
                            <a:srgbClr val="C9D3DD"/>
                          </a:solidFill>
                          <a:latin typeface="Arial"/>
                        </a:rPr>
                        <a:t>Suma MontoBruto</a:t>
                      </a:r>
                    </a:p>
                  </a:txBody>
                  <a:tcPr>
                    <a:solidFill>
                      <a:srgbClr val="1B2A3A"/>
                    </a:solidFill>
                  </a:tcPr>
                </a:tc>
                <a:tc>
                  <a:txBody>
                    <a:bodyPr/>
                    <a:lstStyle/>
                    <a:p>
                      <a:pPr algn="r"/>
                      <a:r>
                        <a:rPr sz="1200" b="0">
                          <a:solidFill>
                            <a:srgbClr val="C9D3DD"/>
                          </a:solidFill>
                          <a:latin typeface="Arial"/>
                        </a:rPr>
                        <a:t>1.354.458,59</a:t>
                      </a:r>
                    </a:p>
                  </a:txBody>
                  <a:tcPr>
                    <a:solidFill>
                      <a:srgbClr val="1B2A3A"/>
                    </a:solidFill>
                  </a:tcPr>
                </a:tc>
                <a:tc>
                  <a:txBody>
                    <a:bodyPr/>
                    <a:lstStyle/>
                    <a:p>
                      <a:pPr algn="r"/>
                      <a:r>
                        <a:rPr sz="1200" b="0">
                          <a:solidFill>
                            <a:srgbClr val="C9D3DD"/>
                          </a:solidFill>
                          <a:latin typeface="Arial"/>
                        </a:rPr>
                        <a:t>1.354.458,59</a:t>
                      </a:r>
                    </a:p>
                  </a:txBody>
                  <a:tcPr>
                    <a:solidFill>
                      <a:srgbClr val="1B2A3A"/>
                    </a:solidFill>
                  </a:tcPr>
                </a:tc>
                <a:tc>
                  <a:txBody>
                    <a:bodyPr/>
                    <a:lstStyle/>
                    <a:p>
                      <a:pPr algn="r"/>
                      <a:r>
                        <a:rPr sz="1200" b="1">
                          <a:solidFill>
                            <a:srgbClr val="E8A35A"/>
                          </a:solidFill>
                          <a:latin typeface="Arial"/>
                        </a:rPr>
                        <a:t>OK</a:t>
                      </a:r>
                    </a:p>
                  </a:txBody>
                  <a:tcPr>
                    <a:solidFill>
                      <a:srgbClr val="1B2A3A"/>
                    </a:solidFill>
                  </a:tcPr>
                </a:tc>
                <a:extLst>
                  <a:ext uri="{0D108BD9-81ED-4DB2-BD59-A6C34878D82A}">
                    <a16:rowId xmlns:a16="http://schemas.microsoft.com/office/drawing/2014/main" val="10004"/>
                  </a:ext>
                </a:extLst>
              </a:tr>
            </a:tbl>
          </a:graphicData>
        </a:graphic>
      </p:graphicFrame>
      <p:sp>
        <p:nvSpPr>
          <p:cNvPr id="14" name="TextBox 13"/>
          <p:cNvSpPr txBox="1"/>
          <p:nvPr/>
        </p:nvSpPr>
        <p:spPr>
          <a:xfrm>
            <a:off x="813816" y="5029200"/>
            <a:ext cx="10561320" cy="731520"/>
          </a:xfrm>
          <a:prstGeom prst="rect">
            <a:avLst/>
          </a:prstGeom>
          <a:noFill/>
        </p:spPr>
        <p:txBody>
          <a:bodyPr wrap="square" lIns="0" tIns="0" rIns="0" bIns="0">
            <a:spAutoFit/>
          </a:bodyPr>
          <a:lstStyle/>
          <a:p>
            <a:pPr algn="l">
              <a:lnSpc>
                <a:spcPct val="115000"/>
              </a:lnSpc>
              <a:spcAft>
                <a:spcPts val="600"/>
              </a:spcAft>
            </a:pPr>
            <a:r>
              <a:rPr sz="1500" b="0">
                <a:solidFill>
                  <a:srgbClr val="C9D3DD"/>
                </a:solidFill>
                <a:latin typeface="Arial"/>
              </a:rPr>
              <a:t>Cada control compara el mismo dato en las dos bases: si coinciden, la carga fue correcta.</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A0521A"/>
                </a:solidFill>
                <a:latin typeface="Arial" pitchFamily="34" charset="0"/>
                <a:ea typeface="Arial" pitchFamily="34" charset="-122"/>
                <a:cs typeface="Arial" pitchFamily="34" charset="-120"/>
              </a:rPr>
              <a:t>PROCESO ETL</a:t>
            </a:r>
          </a:p>
        </p:txBody>
      </p:sp>
      <p:sp>
        <p:nvSpPr>
          <p:cNvPr id="3" name="Text 1"/>
          <p:cNvSpPr>
            <a:spLocks noGrp="1"/>
          </p:cNvSpPr>
          <p:nvPr>
            <p:ph type="title"/>
          </p:nvPr>
        </p:nvSpPr>
        <p:spPr>
          <a:xfrm>
            <a:off x="812800" y="1127764"/>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B2A3A"/>
                </a:solidFill>
                <a:latin typeface="Georgia" pitchFamily="18" charset="0"/>
                <a:ea typeface="Georgia" pitchFamily="18" charset="-122"/>
                <a:cs typeface="Georgia" pitchFamily="18" charset="-120"/>
              </a:rPr>
              <a:t>Arquitectura y dimensiones</a:t>
            </a:r>
            <a:endParaRPr lang="en-US" sz="3200" dirty="0"/>
          </a:p>
        </p:txBody>
      </p:sp>
      <p:sp>
        <p:nvSpPr>
          <p:cNvPr id="4" name="Text 2"/>
          <p:cNvSpPr/>
          <p:nvPr/>
        </p:nvSpPr>
        <p:spPr>
          <a:xfrm>
            <a:off x="812800" y="1899920"/>
            <a:ext cx="10883392" cy="3830315"/>
          </a:xfrm>
          <a:prstGeom prst="rect">
            <a:avLst/>
          </a:prstGeom>
          <a:noFill/>
          <a:ln/>
        </p:spPr>
        <p:txBody>
          <a:bodyPr wrap="square" lIns="0" tIns="0" rIns="0" bIns="0" rtlCol="0" anchor="t">
            <a:normAutofit/>
          </a:bodyPr>
          <a:lstStyle/>
          <a:p>
            <a:pPr marL="0" indent="0" algn="l">
              <a:lnSpc>
                <a:spcPts val="2320"/>
              </a:lnSpc>
              <a:buNone/>
            </a:pPr>
            <a:r>
              <a:rPr lang="en-US" b="1" dirty="0">
                <a:latin typeface="+mj-lt"/>
              </a:rPr>
              <a:t>Flujo de control (Orquestación en SSIS)</a:t>
            </a:r>
          </a:p>
          <a:p>
            <a:pPr marL="285750" indent="-285750" algn="l">
              <a:lnSpc>
                <a:spcPts val="2320"/>
              </a:lnSpc>
              <a:buFont typeface="Arial" panose="020B0604020202020204" pitchFamily="34" charset="0"/>
              <a:buChar char="•"/>
            </a:pPr>
            <a:r>
              <a:rPr lang="en-US" sz="1600" b="1" dirty="0">
                <a:latin typeface="+mj-lt"/>
              </a:rPr>
              <a:t>Limpieza: </a:t>
            </a:r>
            <a:r>
              <a:rPr lang="en-US" sz="1600" dirty="0">
                <a:latin typeface="+mj-lt"/>
              </a:rPr>
              <a:t>Tarea SQL inicial con DELETE (En lugar de TRUNCATE) para respetar las Foreign Keys.</a:t>
            </a:r>
          </a:p>
          <a:p>
            <a:pPr marL="285750" indent="-285750" algn="l">
              <a:lnSpc>
                <a:spcPts val="2320"/>
              </a:lnSpc>
              <a:buFont typeface="Arial" panose="020B0604020202020204" pitchFamily="34" charset="0"/>
              <a:buChar char="•"/>
            </a:pPr>
            <a:r>
              <a:rPr lang="en-US" sz="1600" b="1" dirty="0">
                <a:latin typeface="+mj-lt"/>
              </a:rPr>
              <a:t>Carga Paralela: </a:t>
            </a:r>
            <a:r>
              <a:rPr lang="en-US" sz="1600" dirty="0">
                <a:latin typeface="+mj-lt"/>
              </a:rPr>
              <a:t>4 tareas de flujos de datos para Cliente, Transportista, Empleado y Producto.</a:t>
            </a:r>
          </a:p>
          <a:p>
            <a:pPr marL="285750" indent="-285750" algn="l">
              <a:lnSpc>
                <a:spcPts val="2320"/>
              </a:lnSpc>
              <a:buFont typeface="Arial" panose="020B0604020202020204" pitchFamily="34" charset="0"/>
              <a:buChar char="•"/>
            </a:pPr>
            <a:r>
              <a:rPr lang="en-US" sz="1600" b="1" dirty="0">
                <a:latin typeface="+mj-lt"/>
              </a:rPr>
              <a:t>Secuencia: </a:t>
            </a:r>
            <a:r>
              <a:rPr lang="en-US" sz="1600" dirty="0">
                <a:latin typeface="+mj-lt"/>
              </a:rPr>
              <a:t>La tabla de hechos y la validación se ejecutan solo después de que las dimensiones están pobladas.</a:t>
            </a:r>
          </a:p>
          <a:p>
            <a:pPr marL="285750" indent="-285750" algn="l">
              <a:lnSpc>
                <a:spcPts val="2320"/>
              </a:lnSpc>
              <a:buFont typeface="Arial" panose="020B0604020202020204" pitchFamily="34" charset="0"/>
              <a:buChar char="•"/>
            </a:pPr>
            <a:endParaRPr lang="en-US" sz="1600" dirty="0">
              <a:latin typeface="+mj-lt"/>
            </a:endParaRPr>
          </a:p>
          <a:p>
            <a:pPr algn="l">
              <a:lnSpc>
                <a:spcPts val="2320"/>
              </a:lnSpc>
            </a:pPr>
            <a:r>
              <a:rPr lang="en-US" b="1" dirty="0">
                <a:latin typeface="+mj-lt"/>
              </a:rPr>
              <a:t>Transformaciones clave en Dimensiones</a:t>
            </a:r>
          </a:p>
          <a:p>
            <a:pPr marL="285750" indent="-285750" algn="l">
              <a:lnSpc>
                <a:spcPts val="2320"/>
              </a:lnSpc>
              <a:buFont typeface="Arial" panose="020B0604020202020204" pitchFamily="34" charset="0"/>
              <a:buChar char="•"/>
            </a:pPr>
            <a:r>
              <a:rPr lang="en-US" sz="1600" b="1" dirty="0">
                <a:latin typeface="+mj-lt"/>
              </a:rPr>
              <a:t>DimProducto</a:t>
            </a:r>
            <a:r>
              <a:rPr lang="en-US" sz="1600" dirty="0">
                <a:latin typeface="+mj-lt"/>
              </a:rPr>
              <a:t> (Desnormalización): Se usó un comando SQL en el origen con INNER JOIN entre </a:t>
            </a:r>
            <a:r>
              <a:rPr lang="en-US" sz="1600" b="1" dirty="0">
                <a:latin typeface="+mj-lt"/>
              </a:rPr>
              <a:t>Productos</a:t>
            </a:r>
            <a:r>
              <a:rPr lang="en-US" sz="1600" dirty="0">
                <a:latin typeface="+mj-lt"/>
              </a:rPr>
              <a:t>, </a:t>
            </a:r>
            <a:r>
              <a:rPr lang="en-US" sz="1600" b="1" dirty="0">
                <a:latin typeface="+mj-lt"/>
              </a:rPr>
              <a:t>Categorias</a:t>
            </a:r>
            <a:r>
              <a:rPr lang="en-US" sz="1600" dirty="0">
                <a:latin typeface="+mj-lt"/>
              </a:rPr>
              <a:t> y </a:t>
            </a:r>
            <a:r>
              <a:rPr lang="en-US" sz="1600" b="1" dirty="0">
                <a:latin typeface="+mj-lt"/>
              </a:rPr>
              <a:t>Proveedores</a:t>
            </a:r>
            <a:r>
              <a:rPr lang="en-US" sz="1600" dirty="0">
                <a:latin typeface="+mj-lt"/>
              </a:rPr>
              <a:t> para mantener el esquema Estrella.</a:t>
            </a:r>
          </a:p>
          <a:p>
            <a:pPr marL="285750" indent="-285750" algn="l">
              <a:lnSpc>
                <a:spcPts val="2320"/>
              </a:lnSpc>
              <a:buFont typeface="Arial" panose="020B0604020202020204" pitchFamily="34" charset="0"/>
              <a:buChar char="•"/>
            </a:pPr>
            <a:r>
              <a:rPr lang="en-US" sz="1600" b="1" dirty="0">
                <a:latin typeface="+mj-lt"/>
              </a:rPr>
              <a:t>DimEmpleado:</a:t>
            </a:r>
            <a:r>
              <a:rPr lang="en-US" sz="1600" dirty="0">
                <a:latin typeface="+mj-lt"/>
              </a:rPr>
              <a:t> se usó el componente de columna derivada para concatenar </a:t>
            </a:r>
            <a:r>
              <a:rPr lang="en-US" sz="1600" b="1" dirty="0">
                <a:latin typeface="+mj-lt"/>
              </a:rPr>
              <a:t>Nombre</a:t>
            </a:r>
            <a:r>
              <a:rPr lang="en-US" sz="1600" dirty="0">
                <a:latin typeface="+mj-lt"/>
              </a:rPr>
              <a:t> + </a:t>
            </a:r>
            <a:r>
              <a:rPr lang="en-US" sz="1600" b="1" dirty="0">
                <a:latin typeface="+mj-lt"/>
              </a:rPr>
              <a:t>Apellido</a:t>
            </a:r>
            <a:r>
              <a:rPr lang="en-US" sz="1600" dirty="0">
                <a:latin typeface="+mj-lt"/>
              </a:rPr>
              <a:t> y generar </a:t>
            </a:r>
            <a:r>
              <a:rPr lang="en-US" sz="1600" b="1" dirty="0">
                <a:latin typeface="+mj-lt"/>
              </a:rPr>
              <a:t>NombreCompleto</a:t>
            </a:r>
          </a:p>
          <a:p>
            <a:pPr marL="285750" indent="-285750" algn="l">
              <a:lnSpc>
                <a:spcPts val="2320"/>
              </a:lnSpc>
              <a:buFont typeface="Arial" panose="020B0604020202020204" pitchFamily="34" charset="0"/>
              <a:buChar char="•"/>
            </a:pPr>
            <a:endParaRPr lang="en-US" sz="1600" dirty="0"/>
          </a:p>
        </p:txBody>
      </p:sp>
      <p:sp>
        <p:nvSpPr>
          <p:cNvPr id="5" name="Text 3"/>
          <p:cNvSpPr/>
          <p:nvPr/>
        </p:nvSpPr>
        <p:spPr>
          <a:xfrm>
            <a:off x="812800" y="6238242"/>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1"/>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kern="0" spc="150" dirty="0">
                <a:solidFill>
                  <a:srgbClr val="A0521A"/>
                </a:solidFill>
                <a:latin typeface="Arial" pitchFamily="34" charset="0"/>
                <a:ea typeface="Arial" pitchFamily="34" charset="-122"/>
                <a:cs typeface="Arial" pitchFamily="34" charset="-120"/>
              </a:rPr>
              <a:t>PROCESO ETL</a:t>
            </a:r>
          </a:p>
        </p:txBody>
      </p:sp>
      <p:sp>
        <p:nvSpPr>
          <p:cNvPr id="3" name="Text 1"/>
          <p:cNvSpPr>
            <a:spLocks noGrp="1"/>
          </p:cNvSpPr>
          <p:nvPr>
            <p:ph type="title"/>
          </p:nvPr>
        </p:nvSpPr>
        <p:spPr>
          <a:xfrm>
            <a:off x="812800" y="1127764"/>
            <a:ext cx="10883392" cy="492760"/>
          </a:xfrm>
          <a:prstGeom prst="rect">
            <a:avLst/>
          </a:prstGeom>
          <a:noFill/>
          <a:ln/>
        </p:spPr>
        <p:txBody>
          <a:bodyPr wrap="square" lIns="0" tIns="0" rIns="0" bIns="0" rtlCol="0" anchor="t">
            <a:normAutofit/>
          </a:bodyPr>
          <a:lstStyle/>
          <a:p>
            <a:pPr marL="0" indent="0" algn="l">
              <a:lnSpc>
                <a:spcPts val="3680"/>
              </a:lnSpc>
              <a:buNone/>
            </a:pPr>
            <a:r>
              <a:rPr lang="en-US" sz="2800" b="1" dirty="0"/>
              <a:t>Tabla de Hechos y Validaciones</a:t>
            </a:r>
          </a:p>
        </p:txBody>
      </p:sp>
      <p:sp>
        <p:nvSpPr>
          <p:cNvPr id="4" name="Text 2"/>
          <p:cNvSpPr/>
          <p:nvPr/>
        </p:nvSpPr>
        <p:spPr>
          <a:xfrm>
            <a:off x="590858" y="2014225"/>
            <a:ext cx="10883392" cy="3830315"/>
          </a:xfrm>
          <a:prstGeom prst="rect">
            <a:avLst/>
          </a:prstGeom>
          <a:noFill/>
          <a:ln/>
        </p:spPr>
        <p:txBody>
          <a:bodyPr wrap="square" lIns="0" tIns="0" rIns="0" bIns="0" rtlCol="0" anchor="t">
            <a:normAutofit/>
          </a:bodyPr>
          <a:lstStyle/>
          <a:p>
            <a:pPr algn="l">
              <a:lnSpc>
                <a:spcPts val="2320"/>
              </a:lnSpc>
            </a:pPr>
            <a:r>
              <a:rPr lang="en-US" b="1" dirty="0"/>
              <a:t>Carga de FactVentas</a:t>
            </a:r>
          </a:p>
          <a:p>
            <a:pPr marL="285750" indent="-285750" algn="l">
              <a:lnSpc>
                <a:spcPts val="2320"/>
              </a:lnSpc>
              <a:buFont typeface="Arial" panose="020B0604020202020204" pitchFamily="34" charset="0"/>
              <a:buChar char="•"/>
            </a:pPr>
            <a:r>
              <a:rPr lang="en-US" sz="1600" b="1" dirty="0"/>
              <a:t>Cálculos: </a:t>
            </a:r>
            <a:r>
              <a:rPr lang="en-US" sz="1600" dirty="0"/>
              <a:t>3 columnas derivadas generan </a:t>
            </a:r>
            <a:r>
              <a:rPr lang="en-US" sz="1600" b="1" dirty="0"/>
              <a:t>MontoBruto</a:t>
            </a:r>
            <a:r>
              <a:rPr lang="en-US" sz="1600" dirty="0"/>
              <a:t>, </a:t>
            </a:r>
            <a:r>
              <a:rPr lang="en-US" sz="1600" b="1" dirty="0"/>
              <a:t>MontoDescuento</a:t>
            </a:r>
            <a:r>
              <a:rPr lang="en-US" sz="1600" dirty="0"/>
              <a:t>, </a:t>
            </a:r>
            <a:r>
              <a:rPr lang="en-US" sz="1600" b="1" dirty="0"/>
              <a:t>MontoNeto</a:t>
            </a:r>
            <a:r>
              <a:rPr lang="en-US" sz="1600" dirty="0"/>
              <a:t> y </a:t>
            </a:r>
            <a:r>
              <a:rPr lang="en-US" sz="1600" b="1" dirty="0"/>
              <a:t>DiasDespacho </a:t>
            </a:r>
            <a:r>
              <a:rPr lang="en-US" sz="1600" dirty="0"/>
              <a:t>(asignando 0 si la fecha de envío es nula).</a:t>
            </a:r>
          </a:p>
          <a:p>
            <a:pPr marL="285750" indent="-285750" algn="l">
              <a:lnSpc>
                <a:spcPts val="2320"/>
              </a:lnSpc>
              <a:buFont typeface="Arial" panose="020B0604020202020204" pitchFamily="34" charset="0"/>
              <a:buChar char="•"/>
            </a:pPr>
            <a:r>
              <a:rPr lang="en-US" sz="1600" b="1" dirty="0"/>
              <a:t>Lookups en Cascada: </a:t>
            </a:r>
            <a:r>
              <a:rPr lang="en-US" sz="1600" dirty="0"/>
              <a:t>6 componentes de Búsqueda </a:t>
            </a:r>
          </a:p>
          <a:p>
            <a:pPr marL="285750" indent="-285750" algn="l">
              <a:lnSpc>
                <a:spcPts val="2320"/>
              </a:lnSpc>
              <a:buFont typeface="Arial" panose="020B0604020202020204" pitchFamily="34" charset="0"/>
              <a:buChar char="•"/>
            </a:pPr>
            <a:r>
              <a:rPr lang="en-US" sz="1600" b="1" dirty="0"/>
              <a:t>Manejo de fechas nulas: </a:t>
            </a:r>
            <a:r>
              <a:rPr lang="en-US" sz="1600" dirty="0"/>
              <a:t>Conversión a formato entero </a:t>
            </a:r>
            <a:r>
              <a:rPr lang="en-US" sz="1600" b="1" dirty="0"/>
              <a:t>AAAAMMDD</a:t>
            </a:r>
            <a:r>
              <a:rPr lang="en-US" sz="1600" dirty="0"/>
              <a:t>. Las 21 órdenes sin envío se mapean a la clave </a:t>
            </a:r>
            <a:r>
              <a:rPr lang="en-US" sz="1600" b="1" dirty="0"/>
              <a:t>-1 (“Sin fecha”) </a:t>
            </a:r>
            <a:r>
              <a:rPr lang="en-US" sz="1600" dirty="0"/>
              <a:t>de </a:t>
            </a:r>
            <a:r>
              <a:rPr lang="en-US" sz="1600" b="1" dirty="0"/>
              <a:t>DimTiempo.</a:t>
            </a:r>
          </a:p>
          <a:p>
            <a:pPr marL="285750" indent="-285750" algn="l">
              <a:lnSpc>
                <a:spcPts val="2320"/>
              </a:lnSpc>
              <a:buFont typeface="Arial" panose="020B0604020202020204" pitchFamily="34" charset="0"/>
              <a:buChar char="•"/>
            </a:pPr>
            <a:endParaRPr lang="en-US" sz="1600" dirty="0"/>
          </a:p>
          <a:p>
            <a:pPr algn="l">
              <a:lnSpc>
                <a:spcPts val="2320"/>
              </a:lnSpc>
            </a:pPr>
            <a:r>
              <a:rPr lang="en-US" sz="1600" b="1" dirty="0"/>
              <a:t>Validación automática</a:t>
            </a:r>
          </a:p>
          <a:p>
            <a:pPr marL="285750" indent="-285750" algn="l">
              <a:lnSpc>
                <a:spcPts val="2320"/>
              </a:lnSpc>
              <a:buFont typeface="Arial" panose="020B0604020202020204" pitchFamily="34" charset="0"/>
              <a:buChar char="•"/>
            </a:pPr>
            <a:r>
              <a:rPr lang="en-US" sz="1600" b="1" dirty="0"/>
              <a:t>Tarea final que ejecuta 02_validacion_carga.sql comparando Origen vs DW.</a:t>
            </a:r>
          </a:p>
          <a:p>
            <a:pPr marL="285750" indent="-285750" algn="l">
              <a:lnSpc>
                <a:spcPts val="2320"/>
              </a:lnSpc>
              <a:buFont typeface="Arial" panose="020B0604020202020204" pitchFamily="34" charset="0"/>
              <a:buChar char="•"/>
            </a:pPr>
            <a:r>
              <a:rPr lang="en-US" sz="1600" b="1" dirty="0"/>
              <a:t>Resultado: 2.155</a:t>
            </a:r>
            <a:r>
              <a:rPr lang="en-US" sz="1600" dirty="0"/>
              <a:t> filas cargadas, </a:t>
            </a:r>
            <a:r>
              <a:rPr lang="en-US" sz="1600" b="1" dirty="0"/>
              <a:t>$1.265.792,53</a:t>
            </a:r>
            <a:r>
              <a:rPr lang="en-US" sz="1600" dirty="0"/>
              <a:t> en ventas netas, </a:t>
            </a:r>
            <a:r>
              <a:rPr lang="en-US" sz="1600" b="1" dirty="0"/>
              <a:t>0 filas huérfanas</a:t>
            </a:r>
            <a:r>
              <a:rPr lang="en-US" sz="1600" dirty="0"/>
              <a:t>. Todos los controles en “</a:t>
            </a:r>
            <a:r>
              <a:rPr lang="en-US" sz="1600" b="1" dirty="0"/>
              <a:t>OK</a:t>
            </a:r>
            <a:r>
              <a:rPr lang="en-US" sz="1600" dirty="0"/>
              <a:t>”</a:t>
            </a:r>
          </a:p>
        </p:txBody>
      </p:sp>
      <p:sp>
        <p:nvSpPr>
          <p:cNvPr id="5" name="Text 3"/>
          <p:cNvSpPr/>
          <p:nvPr/>
        </p:nvSpPr>
        <p:spPr>
          <a:xfrm>
            <a:off x="812800" y="6238242"/>
            <a:ext cx="1088339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7A8591"/>
                </a:solidFill>
                <a:latin typeface="Arial" pitchFamily="34" charset="0"/>
                <a:ea typeface="Arial" pitchFamily="34" charset="-122"/>
                <a:cs typeface="Arial" pitchFamily="34" charset="-120"/>
              </a:rPr>
              <a:t>12</a:t>
            </a:r>
            <a:endParaRPr lang="en-US" sz="1200" dirty="0"/>
          </a:p>
        </p:txBody>
      </p:sp>
    </p:spTree>
    <p:extLst>
      <p:ext uri="{BB962C8B-B14F-4D97-AF65-F5344CB8AC3E}">
        <p14:creationId xmlns:p14="http://schemas.microsoft.com/office/powerpoint/2010/main" val="566188247"/>
      </p:ext>
    </p:extLst>
  </p:cSld>
  <p:clrMapOvr>
    <a:masterClrMapping/>
  </p:clrMapOvr>
</p:sld>
</file>

<file path=ppt/theme/theme1.xml><?xml version="1.0" encoding="utf-8"?>
<a:theme xmlns:a="http://schemas.openxmlformats.org/drawingml/2006/main" name="Kent Foods – Fase 1">
  <a:themeElements>
    <a:clrScheme name="Kent Foods – Fase 1">
      <a:dk1>
        <a:srgbClr val="1B2A3A"/>
      </a:dk1>
      <a:lt1>
        <a:srgbClr val="F7F6F2"/>
      </a:lt1>
      <a:dk2>
        <a:srgbClr val="525D68"/>
      </a:dk2>
      <a:lt2>
        <a:srgbClr val="E1E2E0"/>
      </a:lt2>
      <a:accent1>
        <a:srgbClr val="A0521A"/>
      </a:accent1>
      <a:accent2>
        <a:srgbClr val="E8A35A"/>
      </a:accent2>
      <a:accent3>
        <a:srgbClr val="3E4A57"/>
      </a:accent3>
      <a:accent4>
        <a:srgbClr val="C9D3DD"/>
      </a:accent4>
      <a:accent5>
        <a:srgbClr val="7A8591"/>
      </a:accent5>
      <a:accent6>
        <a:srgbClr val="8FA0B1"/>
      </a:accent6>
      <a:hlink>
        <a:srgbClr val="0563C1"/>
      </a:hlink>
      <a:folHlink>
        <a:srgbClr val="954F72"/>
      </a:folHlink>
    </a:clrScheme>
    <a:fontScheme name="Kent Foods – Fase 1">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327</TotalTime>
  <Words>1575</Words>
  <Application>Microsoft Office PowerPoint</Application>
  <PresentationFormat>Widescreen</PresentationFormat>
  <Paragraphs>199</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Arial</vt:lpstr>
      <vt:lpstr>Consolas</vt:lpstr>
      <vt:lpstr>Georgia</vt:lpstr>
      <vt:lpstr>Kent Foods – Fase 1</vt:lpstr>
      <vt:lpstr>Kent Foods</vt:lpstr>
      <vt:lpstr>Una base para operar, no para decidir</vt:lpstr>
      <vt:lpstr>Lo que encontramos y cómo cambió el diseño</vt:lpstr>
      <vt:lpstr>Seis indicadores y cómo se calculan</vt:lpstr>
      <vt:lpstr>Proceso de negocio y granularidad</vt:lpstr>
      <vt:lpstr>Dimensiones y medidas</vt:lpstr>
      <vt:lpstr>Modelo estrella implementado en KentFoodsDW</vt:lpstr>
      <vt:lpstr>Por qué estrella y qué quedó fuera</vt:lpstr>
      <vt:lpstr>01_crear_modelo_dimensional.sql</vt:lpstr>
      <vt:lpstr>Validación: origen contra DW</vt:lpstr>
      <vt:lpstr>Arquitectura y dimensiones</vt:lpstr>
      <vt:lpstr>Tabla de Hechos y Validaciones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Kent Foods – Fase 1</dc:title>
  <dc:subject/>
  <dc:creator>Maxi Bono</dc:creator>
  <cp:lastModifiedBy>Maxi Bono</cp:lastModifiedBy>
  <cp:revision>9</cp:revision>
  <dcterms:created xsi:type="dcterms:W3CDTF">2026-10-19T00:39:36Z</dcterms:created>
  <dcterms:modified xsi:type="dcterms:W3CDTF">2026-10-21T10:22:58Z</dcterms:modified>
</cp:coreProperties>
</file>